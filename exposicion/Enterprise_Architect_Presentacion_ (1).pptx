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491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D7DC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789920" y="5120640"/>
            <a:ext cx="2743200" cy="2743200"/>
          </a:xfrm>
          <a:prstGeom prst="ellipse">
            <a:avLst/>
          </a:prstGeom>
          <a:solidFill>
            <a:srgbClr val="D7DC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8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143000"/>
            <a:ext cx="667512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1E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46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1E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modelado UML · BPMN · SysML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6126480" cy="2606040"/>
          </a:xfrm>
          <a:prstGeom prst="roundRect">
            <a:avLst>
              <a:gd name="adj" fmla="val 4211"/>
            </a:avLst>
          </a:prstGeom>
          <a:solidFill>
            <a:srgbClr val="D7DC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05840" y="38862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8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251960"/>
            <a:ext cx="557784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
</a:t>
            </a:r>
            <a:r>
              <a:rPr lang="en-US" sz="1250" dirty="0">
                <a:solidFill>
                  <a:srgbClr val="1E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Huilcapi León Denisses Fabiola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Tigasi Sampedro Paul Alexander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 Romero David Octavio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5532120"/>
            <a:ext cx="5577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7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 </a:t>
            </a:r>
            <a:r>
              <a:rPr lang="en-US" sz="1250" dirty="0">
                <a:solidFill>
                  <a:srgbClr val="1E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Gleiston Guerrero, PhD.
</a:t>
            </a:r>
            <a:r>
              <a:rPr lang="en-US" sz="1250" b="1" dirty="0">
                <a:solidFill>
                  <a:srgbClr val="7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Materia:  </a:t>
            </a:r>
            <a:r>
              <a:rPr lang="en-US" sz="1250" dirty="0">
                <a:solidFill>
                  <a:srgbClr val="1E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Requisitos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869680" y="295351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869680" y="331927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</a:t>
            </a:r>
            <a:endParaRPr lang="en-US" sz="800" dirty="0"/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BDA4A68E-EE39-0123-2A1B-7242CB31711A}"/>
              </a:ext>
            </a:extLst>
          </p:cNvPr>
          <p:cNvGrpSpPr/>
          <p:nvPr/>
        </p:nvGrpSpPr>
        <p:grpSpPr>
          <a:xfrm>
            <a:off x="7388352" y="2071998"/>
            <a:ext cx="4548685" cy="3736285"/>
            <a:chOff x="6471315" y="1722743"/>
            <a:chExt cx="4548685" cy="3736285"/>
          </a:xfrm>
        </p:grpSpPr>
        <p:sp>
          <p:nvSpPr>
            <p:cNvPr id="34" name="Rounded Rectangle 15">
              <a:extLst>
                <a:ext uri="{FF2B5EF4-FFF2-40B4-BE49-F238E27FC236}">
                  <a16:creationId xmlns:a16="http://schemas.microsoft.com/office/drawing/2014/main" id="{C4D1769C-F134-5F5D-4C49-BBC7BAC5CF7C}"/>
                </a:ext>
              </a:extLst>
            </p:cNvPr>
            <p:cNvSpPr/>
            <p:nvPr/>
          </p:nvSpPr>
          <p:spPr>
            <a:xfrm>
              <a:off x="6471315" y="1722743"/>
              <a:ext cx="4548685" cy="3736285"/>
            </a:xfrm>
            <a:prstGeom prst="roundRect">
              <a:avLst/>
            </a:prstGeom>
            <a:solidFill>
              <a:srgbClr val="FAFAF8"/>
            </a:solidFill>
            <a:ln w="1524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5" name="Connector 23">
              <a:extLst>
                <a:ext uri="{FF2B5EF4-FFF2-40B4-BE49-F238E27FC236}">
                  <a16:creationId xmlns:a16="http://schemas.microsoft.com/office/drawing/2014/main" id="{1061364A-601A-97DC-12AF-7B2A28D2724A}"/>
                </a:ext>
              </a:extLst>
            </p:cNvPr>
            <p:cNvCxnSpPr/>
            <p:nvPr/>
          </p:nvCxnSpPr>
          <p:spPr>
            <a:xfrm flipV="1">
              <a:off x="7535000" y="3835000"/>
              <a:ext cx="1290000" cy="30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27">
              <a:extLst>
                <a:ext uri="{FF2B5EF4-FFF2-40B4-BE49-F238E27FC236}">
                  <a16:creationId xmlns:a16="http://schemas.microsoft.com/office/drawing/2014/main" id="{16F506A6-0734-8817-DB56-D2BC2BB740C4}"/>
                </a:ext>
              </a:extLst>
            </p:cNvPr>
            <p:cNvCxnSpPr/>
            <p:nvPr/>
          </p:nvCxnSpPr>
          <p:spPr>
            <a:xfrm flipV="1">
              <a:off x="8155000" y="3835000"/>
              <a:ext cx="670000" cy="118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29">
              <a:extLst>
                <a:ext uri="{FF2B5EF4-FFF2-40B4-BE49-F238E27FC236}">
                  <a16:creationId xmlns:a16="http://schemas.microsoft.com/office/drawing/2014/main" id="{86F102C3-031C-1366-8F50-D95A1C808FC1}"/>
                </a:ext>
              </a:extLst>
            </p:cNvPr>
            <p:cNvCxnSpPr/>
            <p:nvPr/>
          </p:nvCxnSpPr>
          <p:spPr>
            <a:xfrm flipH="1" flipV="1">
              <a:off x="8825000" y="3835000"/>
              <a:ext cx="880000" cy="118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25">
              <a:extLst>
                <a:ext uri="{FF2B5EF4-FFF2-40B4-BE49-F238E27FC236}">
                  <a16:creationId xmlns:a16="http://schemas.microsoft.com/office/drawing/2014/main" id="{16257427-A888-492B-1D39-BC60D0390316}"/>
                </a:ext>
              </a:extLst>
            </p:cNvPr>
            <p:cNvCxnSpPr/>
            <p:nvPr/>
          </p:nvCxnSpPr>
          <p:spPr>
            <a:xfrm flipH="1" flipV="1">
              <a:off x="8825000" y="3835000"/>
              <a:ext cx="1430000" cy="30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21">
              <a:extLst>
                <a:ext uri="{FF2B5EF4-FFF2-40B4-BE49-F238E27FC236}">
                  <a16:creationId xmlns:a16="http://schemas.microsoft.com/office/drawing/2014/main" id="{4CF0105C-8320-8F65-D765-CEFBEC56DD68}"/>
                </a:ext>
              </a:extLst>
            </p:cNvPr>
            <p:cNvCxnSpPr/>
            <p:nvPr/>
          </p:nvCxnSpPr>
          <p:spPr>
            <a:xfrm flipH="1">
              <a:off x="8825000" y="2675000"/>
              <a:ext cx="1250000" cy="116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19">
              <a:extLst>
                <a:ext uri="{FF2B5EF4-FFF2-40B4-BE49-F238E27FC236}">
                  <a16:creationId xmlns:a16="http://schemas.microsoft.com/office/drawing/2014/main" id="{16BA0BCB-191F-3EB2-E7BB-083B391DF493}"/>
                </a:ext>
              </a:extLst>
            </p:cNvPr>
            <p:cNvCxnSpPr/>
            <p:nvPr/>
          </p:nvCxnSpPr>
          <p:spPr>
            <a:xfrm>
              <a:off x="7665000" y="2675000"/>
              <a:ext cx="1160000" cy="116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16">
              <a:extLst>
                <a:ext uri="{FF2B5EF4-FFF2-40B4-BE49-F238E27FC236}">
                  <a16:creationId xmlns:a16="http://schemas.microsoft.com/office/drawing/2014/main" id="{59DE2E67-17FA-16B4-5ECA-E3C8E2520AE5}"/>
                </a:ext>
              </a:extLst>
            </p:cNvPr>
            <p:cNvSpPr txBox="1"/>
            <p:nvPr/>
          </p:nvSpPr>
          <p:spPr>
            <a:xfrm>
              <a:off x="6910000" y="1960000"/>
              <a:ext cx="173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45720" tIns="22860" rIns="45720" bIns="22860" anchor="ctr">
              <a:spAutoFit/>
            </a:bodyPr>
            <a:lstStyle/>
            <a:p>
              <a:pPr algn="l"/>
              <a:r>
                <a:rPr sz="1400" b="1">
                  <a:solidFill>
                    <a:srgbClr val="6F7A82"/>
                  </a:solidFill>
                  <a:latin typeface="Aptos"/>
                </a:rPr>
                <a:t>Capacidades integradas</a:t>
              </a:r>
            </a:p>
          </p:txBody>
        </p:sp>
        <p:sp>
          <p:nvSpPr>
            <p:cNvPr id="42" name="Oval 17">
              <a:extLst>
                <a:ext uri="{FF2B5EF4-FFF2-40B4-BE49-F238E27FC236}">
                  <a16:creationId xmlns:a16="http://schemas.microsoft.com/office/drawing/2014/main" id="{7899E9EF-33F8-6C9D-AE97-22AC3DC508B2}"/>
                </a:ext>
              </a:extLst>
            </p:cNvPr>
            <p:cNvSpPr/>
            <p:nvPr/>
          </p:nvSpPr>
          <p:spPr>
            <a:xfrm>
              <a:off x="8237885" y="3117257"/>
              <a:ext cx="1304858" cy="1232286"/>
            </a:xfrm>
            <a:prstGeom prst="ellipse">
              <a:avLst/>
            </a:prstGeom>
            <a:solidFill>
              <a:srgbClr val="86C8BC"/>
            </a:solidFill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2200" b="1">
                  <a:solidFill>
                    <a:srgbClr val="2D4059"/>
                  </a:solidFill>
                  <a:latin typeface="Aptos"/>
                </a:rPr>
                <a:t>EA</a:t>
              </a:r>
            </a:p>
            <a:p>
              <a:pPr algn="ctr"/>
              <a:r>
                <a:rPr sz="1000">
                  <a:solidFill>
                    <a:srgbClr val="2D4059"/>
                  </a:solidFill>
                  <a:latin typeface="Aptos"/>
                </a:rPr>
                <a:t>Enterprise
Architect</a:t>
              </a:r>
            </a:p>
          </p:txBody>
        </p:sp>
        <p:sp>
          <p:nvSpPr>
            <p:cNvPr id="43" name="Rounded Rectangle 18">
              <a:extLst>
                <a:ext uri="{FF2B5EF4-FFF2-40B4-BE49-F238E27FC236}">
                  <a16:creationId xmlns:a16="http://schemas.microsoft.com/office/drawing/2014/main" id="{C059F422-093E-25C5-75E3-06ED5D71ABD0}"/>
                </a:ext>
              </a:extLst>
            </p:cNvPr>
            <p:cNvSpPr/>
            <p:nvPr/>
          </p:nvSpPr>
          <p:spPr>
            <a:xfrm>
              <a:off x="7050000" y="2410000"/>
              <a:ext cx="1230000" cy="530000"/>
            </a:xfrm>
            <a:prstGeom prst="roundRect">
              <a:avLst/>
            </a:prstGeom>
            <a:solidFill>
              <a:srgbClr val="BFD7EA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 dirty="0">
                  <a:solidFill>
                    <a:srgbClr val="2D4059"/>
                  </a:solidFill>
                  <a:latin typeface="Aptos"/>
                </a:rPr>
                <a:t>UML</a:t>
              </a:r>
            </a:p>
          </p:txBody>
        </p:sp>
        <p:sp>
          <p:nvSpPr>
            <p:cNvPr id="44" name="Rounded Rectangle 20">
              <a:extLst>
                <a:ext uri="{FF2B5EF4-FFF2-40B4-BE49-F238E27FC236}">
                  <a16:creationId xmlns:a16="http://schemas.microsoft.com/office/drawing/2014/main" id="{9A9447B6-04C6-6F5F-E5D8-CE40A8EE8A08}"/>
                </a:ext>
              </a:extLst>
            </p:cNvPr>
            <p:cNvSpPr/>
            <p:nvPr/>
          </p:nvSpPr>
          <p:spPr>
            <a:xfrm>
              <a:off x="9460000" y="2410000"/>
              <a:ext cx="1230000" cy="530000"/>
            </a:xfrm>
            <a:prstGeom prst="roundRect">
              <a:avLst/>
            </a:prstGeom>
            <a:solidFill>
              <a:srgbClr val="FFDCCC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rgbClr val="2D4059"/>
                  </a:solidFill>
                  <a:latin typeface="Aptos"/>
                </a:rPr>
                <a:t>BPMN</a:t>
              </a:r>
            </a:p>
          </p:txBody>
        </p:sp>
        <p:sp>
          <p:nvSpPr>
            <p:cNvPr id="45" name="Rounded Rectangle 22">
              <a:extLst>
                <a:ext uri="{FF2B5EF4-FFF2-40B4-BE49-F238E27FC236}">
                  <a16:creationId xmlns:a16="http://schemas.microsoft.com/office/drawing/2014/main" id="{01ED02B8-0E3F-A867-B6B6-C5B3D28B95AB}"/>
                </a:ext>
              </a:extLst>
            </p:cNvPr>
            <p:cNvSpPr/>
            <p:nvPr/>
          </p:nvSpPr>
          <p:spPr>
            <a:xfrm>
              <a:off x="6658743" y="3935314"/>
              <a:ext cx="1230000" cy="530000"/>
            </a:xfrm>
            <a:prstGeom prst="roundRect">
              <a:avLst/>
            </a:prstGeom>
            <a:solidFill>
              <a:srgbClr val="DFD3F5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rgbClr val="2D4059"/>
                  </a:solidFill>
                  <a:latin typeface="Aptos"/>
                </a:rPr>
                <a:t>SysML</a:t>
              </a:r>
            </a:p>
          </p:txBody>
        </p:sp>
        <p:sp>
          <p:nvSpPr>
            <p:cNvPr id="46" name="Rounded Rectangle 24">
              <a:extLst>
                <a:ext uri="{FF2B5EF4-FFF2-40B4-BE49-F238E27FC236}">
                  <a16:creationId xmlns:a16="http://schemas.microsoft.com/office/drawing/2014/main" id="{746CE33C-4AE4-0A99-3719-461689146730}"/>
                </a:ext>
              </a:extLst>
            </p:cNvPr>
            <p:cNvSpPr/>
            <p:nvPr/>
          </p:nvSpPr>
          <p:spPr>
            <a:xfrm>
              <a:off x="9640000" y="3870000"/>
              <a:ext cx="1230000" cy="530000"/>
            </a:xfrm>
            <a:prstGeom prst="roundRect">
              <a:avLst/>
            </a:prstGeom>
            <a:solidFill>
              <a:srgbClr val="C6E8DD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rgbClr val="2D4059"/>
                  </a:solidFill>
                  <a:latin typeface="Aptos"/>
                </a:rPr>
                <a:t>REQ</a:t>
              </a:r>
            </a:p>
          </p:txBody>
        </p:sp>
        <p:sp>
          <p:nvSpPr>
            <p:cNvPr id="47" name="Rounded Rectangle 26">
              <a:extLst>
                <a:ext uri="{FF2B5EF4-FFF2-40B4-BE49-F238E27FC236}">
                  <a16:creationId xmlns:a16="http://schemas.microsoft.com/office/drawing/2014/main" id="{913E9259-88B5-2729-751E-9E6DB97A0F71}"/>
                </a:ext>
              </a:extLst>
            </p:cNvPr>
            <p:cNvSpPr/>
            <p:nvPr/>
          </p:nvSpPr>
          <p:spPr>
            <a:xfrm>
              <a:off x="7540000" y="4750000"/>
              <a:ext cx="1230000" cy="530000"/>
            </a:xfrm>
            <a:prstGeom prst="roundRect">
              <a:avLst/>
            </a:prstGeom>
            <a:solidFill>
              <a:srgbClr val="F6EBB5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rgbClr val="2D4059"/>
                  </a:solidFill>
                  <a:latin typeface="Aptos"/>
                </a:rPr>
                <a:t>DOC</a:t>
              </a:r>
            </a:p>
          </p:txBody>
        </p:sp>
        <p:sp>
          <p:nvSpPr>
            <p:cNvPr id="48" name="Rounded Rectangle 28">
              <a:extLst>
                <a:ext uri="{FF2B5EF4-FFF2-40B4-BE49-F238E27FC236}">
                  <a16:creationId xmlns:a16="http://schemas.microsoft.com/office/drawing/2014/main" id="{3B684F9F-0D8B-4BE5-B46C-2AFA86E1374C}"/>
                </a:ext>
              </a:extLst>
            </p:cNvPr>
            <p:cNvSpPr/>
            <p:nvPr/>
          </p:nvSpPr>
          <p:spPr>
            <a:xfrm>
              <a:off x="9090000" y="4750000"/>
              <a:ext cx="1230000" cy="530000"/>
            </a:xfrm>
            <a:prstGeom prst="roundRect">
              <a:avLst/>
            </a:prstGeom>
            <a:solidFill>
              <a:srgbClr val="F4CAD8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rgbClr val="2D4059"/>
                  </a:solidFill>
                  <a:latin typeface="Aptos"/>
                </a:rPr>
                <a:t>CODE</a:t>
              </a:r>
            </a:p>
          </p:txBody>
        </p:sp>
        <p:sp>
          <p:nvSpPr>
            <p:cNvPr id="49" name="Oval 30">
              <a:extLst>
                <a:ext uri="{FF2B5EF4-FFF2-40B4-BE49-F238E27FC236}">
                  <a16:creationId xmlns:a16="http://schemas.microsoft.com/office/drawing/2014/main" id="{B2D2EEEF-2F9F-98AD-2E85-5E1CD25EB09A}"/>
                </a:ext>
              </a:extLst>
            </p:cNvPr>
            <p:cNvSpPr/>
            <p:nvPr/>
          </p:nvSpPr>
          <p:spPr>
            <a:xfrm>
              <a:off x="10100000" y="1950000"/>
              <a:ext cx="240000" cy="240000"/>
            </a:xfrm>
            <a:prstGeom prst="ellipse">
              <a:avLst/>
            </a:prstGeom>
            <a:solidFill>
              <a:srgbClr val="BFD7EA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" b="1">
                <a:solidFill>
                  <a:srgbClr val="2D4059"/>
                </a:solidFill>
                <a:latin typeface="Aptos"/>
              </a:endParaRPr>
            </a:p>
          </p:txBody>
        </p:sp>
        <p:sp>
          <p:nvSpPr>
            <p:cNvPr id="50" name="Oval 31">
              <a:extLst>
                <a:ext uri="{FF2B5EF4-FFF2-40B4-BE49-F238E27FC236}">
                  <a16:creationId xmlns:a16="http://schemas.microsoft.com/office/drawing/2014/main" id="{0C7E5142-E8B3-4A8E-6F13-5393B13A38CB}"/>
                </a:ext>
              </a:extLst>
            </p:cNvPr>
            <p:cNvSpPr/>
            <p:nvPr/>
          </p:nvSpPr>
          <p:spPr>
            <a:xfrm>
              <a:off x="10450000" y="2150000"/>
              <a:ext cx="180000" cy="180000"/>
            </a:xfrm>
            <a:prstGeom prst="ellipse">
              <a:avLst/>
            </a:prstGeom>
            <a:solidFill>
              <a:srgbClr val="DFD3F5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" b="1">
                <a:solidFill>
                  <a:srgbClr val="2D4059"/>
                </a:solidFill>
                <a:latin typeface="Apto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LA HERRAMIENTA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Enterprise Architect?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760720" cy="1371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modelado profesional </a:t>
            </a: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desarrollada por Sparx Systems para diseñar, analizar y documentar sistemas complejos de software y arquitectura empresarial.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pptx_ea/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00400"/>
            <a:ext cx="274320" cy="274320"/>
          </a:xfrm>
          <a:prstGeom prst="rect">
            <a:avLst/>
          </a:prstGeom>
          <a:ln>
            <a:noFill/>
          </a:ln>
        </p:spPr>
      </p:pic>
      <p:sp>
        <p:nvSpPr>
          <p:cNvPr id="7" name="Text 4"/>
          <p:cNvSpPr/>
          <p:nvPr/>
        </p:nvSpPr>
        <p:spPr>
          <a:xfrm>
            <a:off x="1371600" y="303580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académico y empresarial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3355848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entorno sirve tanto para proyectos de curso como para arquitecturas corporativas reales.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0" name="Image 1" descr="/home/claude/pptx_ea/icon_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51960"/>
            <a:ext cx="274320" cy="274320"/>
          </a:xfrm>
          <a:prstGeom prst="rect">
            <a:avLst/>
          </a:prstGeom>
          <a:ln>
            <a:noFill/>
          </a:ln>
        </p:spPr>
      </p:pic>
      <p:sp>
        <p:nvSpPr>
          <p:cNvPr id="11" name="Text 7"/>
          <p:cNvSpPr/>
          <p:nvPr/>
        </p:nvSpPr>
        <p:spPr>
          <a:xfrm>
            <a:off x="1371600" y="408736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 estándares internacionales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71600" y="4407408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· BPMN · SysML · ArchiMate, integrados en un solo repositorio de modelos.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5166360"/>
            <a:ext cx="548640" cy="54864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4" name="Image 2" descr="/home/claude/pptx_ea/icon_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03520"/>
            <a:ext cx="274320" cy="274320"/>
          </a:xfrm>
          <a:prstGeom prst="rect">
            <a:avLst/>
          </a:prstGeom>
          <a:ln>
            <a:noFill/>
          </a:ln>
        </p:spPr>
      </p:pic>
      <p:sp>
        <p:nvSpPr>
          <p:cNvPr id="15" name="Text 10"/>
          <p:cNvSpPr/>
          <p:nvPr/>
        </p:nvSpPr>
        <p:spPr>
          <a:xfrm>
            <a:off x="1371600" y="513892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Modelado, análisis, documentación y arquitectura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71600" y="5458968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el ciclo completo, desde la idea de negocio hasta el código generado.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Enterprise Architect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F3A3508F-24FC-241E-499C-E55C85B28EE0}"/>
              </a:ext>
            </a:extLst>
          </p:cNvPr>
          <p:cNvGrpSpPr/>
          <p:nvPr/>
        </p:nvGrpSpPr>
        <p:grpSpPr>
          <a:xfrm>
            <a:off x="6880000" y="1700784"/>
            <a:ext cx="5056571" cy="3976771"/>
            <a:chOff x="6400000" y="1738229"/>
            <a:chExt cx="5056571" cy="3976771"/>
          </a:xfrm>
        </p:grpSpPr>
        <p:sp>
          <p:nvSpPr>
            <p:cNvPr id="42" name="Shape 35">
              <a:extLst>
                <a:ext uri="{FF2B5EF4-FFF2-40B4-BE49-F238E27FC236}">
                  <a16:creationId xmlns:a16="http://schemas.microsoft.com/office/drawing/2014/main" id="{E7446B00-2E3D-55D6-FC63-9137BB45E2F9}"/>
                </a:ext>
              </a:extLst>
            </p:cNvPr>
            <p:cNvSpPr/>
            <p:nvPr/>
          </p:nvSpPr>
          <p:spPr>
            <a:xfrm>
              <a:off x="6598194" y="5074920"/>
              <a:ext cx="4852851" cy="640080"/>
            </a:xfrm>
            <a:prstGeom prst="roundRect">
              <a:avLst>
                <a:gd name="adj" fmla="val 17143"/>
              </a:avLst>
            </a:prstGeom>
            <a:solidFill>
              <a:srgbClr val="DDEFE8"/>
            </a:solidFill>
            <a:ln w="12700">
              <a:solidFill>
                <a:schemeClr val="tx1"/>
              </a:solidFill>
              <a:prstDash val="solid"/>
            </a:ln>
          </p:spPr>
        </p:sp>
        <p:sp>
          <p:nvSpPr>
            <p:cNvPr id="43" name="Text 36">
              <a:extLst>
                <a:ext uri="{FF2B5EF4-FFF2-40B4-BE49-F238E27FC236}">
                  <a16:creationId xmlns:a16="http://schemas.microsoft.com/office/drawing/2014/main" id="{8BE2E983-5D56-A18B-9262-14C61FC0124F}"/>
                </a:ext>
              </a:extLst>
            </p:cNvPr>
            <p:cNvSpPr/>
            <p:nvPr/>
          </p:nvSpPr>
          <p:spPr>
            <a:xfrm>
              <a:off x="6748272" y="5303520"/>
              <a:ext cx="4160520" cy="1828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30" b="1" dirty="0">
                  <a:solidFill>
                    <a:srgbClr val="24314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Modelado · Análisis · Documentación · Arquitectura</a:t>
              </a:r>
              <a:endParaRPr lang="en-US" sz="1130" dirty="0"/>
            </a:p>
          </p:txBody>
        </p:sp>
        <p:sp>
          <p:nvSpPr>
            <p:cNvPr id="44" name="Rounded Rectangle 38">
              <a:extLst>
                <a:ext uri="{FF2B5EF4-FFF2-40B4-BE49-F238E27FC236}">
                  <a16:creationId xmlns:a16="http://schemas.microsoft.com/office/drawing/2014/main" id="{1AF27FBC-A4CC-8109-2182-1094A761445C}"/>
                </a:ext>
              </a:extLst>
            </p:cNvPr>
            <p:cNvSpPr/>
            <p:nvPr/>
          </p:nvSpPr>
          <p:spPr>
            <a:xfrm>
              <a:off x="6400000" y="1738229"/>
              <a:ext cx="5056571" cy="3102743"/>
            </a:xfrm>
            <a:prstGeom prst="roundRect">
              <a:avLst/>
            </a:prstGeom>
            <a:solidFill>
              <a:srgbClr val="FAFAF8"/>
            </a:solidFill>
            <a:ln w="1524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39">
              <a:extLst>
                <a:ext uri="{FF2B5EF4-FFF2-40B4-BE49-F238E27FC236}">
                  <a16:creationId xmlns:a16="http://schemas.microsoft.com/office/drawing/2014/main" id="{99A13058-34EF-F919-8A5C-D309BDBA0DC9}"/>
                </a:ext>
              </a:extLst>
            </p:cNvPr>
            <p:cNvSpPr txBox="1"/>
            <p:nvPr/>
          </p:nvSpPr>
          <p:spPr>
            <a:xfrm>
              <a:off x="6670000" y="1960000"/>
              <a:ext cx="1800000" cy="2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45720" tIns="22860" rIns="45720" bIns="22860" anchor="ctr">
              <a:spAutoFit/>
            </a:bodyPr>
            <a:lstStyle/>
            <a:p>
              <a:pPr algn="l"/>
              <a:r>
                <a:rPr sz="1400" b="1">
                  <a:solidFill>
                    <a:srgbClr val="6F7A82"/>
                  </a:solidFill>
                  <a:latin typeface="Aptos"/>
                </a:rPr>
                <a:t>Repositorio central</a:t>
              </a:r>
            </a:p>
          </p:txBody>
        </p:sp>
        <p:cxnSp>
          <p:nvCxnSpPr>
            <p:cNvPr id="46" name="Connector 42">
              <a:extLst>
                <a:ext uri="{FF2B5EF4-FFF2-40B4-BE49-F238E27FC236}">
                  <a16:creationId xmlns:a16="http://schemas.microsoft.com/office/drawing/2014/main" id="{874D4C31-18B8-8868-A90E-FB83232B77D2}"/>
                </a:ext>
              </a:extLst>
            </p:cNvPr>
            <p:cNvCxnSpPr/>
            <p:nvPr/>
          </p:nvCxnSpPr>
          <p:spPr>
            <a:xfrm>
              <a:off x="7480000" y="2495000"/>
              <a:ext cx="1410000" cy="985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4">
              <a:extLst>
                <a:ext uri="{FF2B5EF4-FFF2-40B4-BE49-F238E27FC236}">
                  <a16:creationId xmlns:a16="http://schemas.microsoft.com/office/drawing/2014/main" id="{05242A4B-1F43-60BA-F788-602CD2C5E039}"/>
                </a:ext>
              </a:extLst>
            </p:cNvPr>
            <p:cNvCxnSpPr/>
            <p:nvPr/>
          </p:nvCxnSpPr>
          <p:spPr>
            <a:xfrm flipH="1">
              <a:off x="8890000" y="2495000"/>
              <a:ext cx="1250000" cy="985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6">
              <a:extLst>
                <a:ext uri="{FF2B5EF4-FFF2-40B4-BE49-F238E27FC236}">
                  <a16:creationId xmlns:a16="http://schemas.microsoft.com/office/drawing/2014/main" id="{1CC206AE-50B2-97A4-2A34-CC418DC560CE}"/>
                </a:ext>
              </a:extLst>
            </p:cNvPr>
            <p:cNvCxnSpPr/>
            <p:nvPr/>
          </p:nvCxnSpPr>
          <p:spPr>
            <a:xfrm flipV="1">
              <a:off x="7310000" y="3480000"/>
              <a:ext cx="1580000" cy="245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>
              <a:extLst>
                <a:ext uri="{FF2B5EF4-FFF2-40B4-BE49-F238E27FC236}">
                  <a16:creationId xmlns:a16="http://schemas.microsoft.com/office/drawing/2014/main" id="{C6E4B022-8E47-5E82-CA08-157885BADFF8}"/>
                </a:ext>
              </a:extLst>
            </p:cNvPr>
            <p:cNvCxnSpPr/>
            <p:nvPr/>
          </p:nvCxnSpPr>
          <p:spPr>
            <a:xfrm flipH="1" flipV="1">
              <a:off x="8890000" y="3480000"/>
              <a:ext cx="1600000" cy="245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50">
              <a:extLst>
                <a:ext uri="{FF2B5EF4-FFF2-40B4-BE49-F238E27FC236}">
                  <a16:creationId xmlns:a16="http://schemas.microsoft.com/office/drawing/2014/main" id="{7111C8F8-AAAC-F757-5CF9-3397B4005339}"/>
                </a:ext>
              </a:extLst>
            </p:cNvPr>
            <p:cNvCxnSpPr/>
            <p:nvPr/>
          </p:nvCxnSpPr>
          <p:spPr>
            <a:xfrm flipV="1">
              <a:off x="7690000" y="3480000"/>
              <a:ext cx="1200000" cy="1065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2">
              <a:extLst>
                <a:ext uri="{FF2B5EF4-FFF2-40B4-BE49-F238E27FC236}">
                  <a16:creationId xmlns:a16="http://schemas.microsoft.com/office/drawing/2014/main" id="{52112ED2-D78E-63DE-FF62-05484D8C76C0}"/>
                </a:ext>
              </a:extLst>
            </p:cNvPr>
            <p:cNvCxnSpPr/>
            <p:nvPr/>
          </p:nvCxnSpPr>
          <p:spPr>
            <a:xfrm flipH="1" flipV="1">
              <a:off x="8890000" y="3480000"/>
              <a:ext cx="1110000" cy="1065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ed Rectangle 40">
              <a:extLst>
                <a:ext uri="{FF2B5EF4-FFF2-40B4-BE49-F238E27FC236}">
                  <a16:creationId xmlns:a16="http://schemas.microsoft.com/office/drawing/2014/main" id="{13BA8294-FBE8-D983-6355-3161DBD2E093}"/>
                </a:ext>
              </a:extLst>
            </p:cNvPr>
            <p:cNvSpPr/>
            <p:nvPr/>
          </p:nvSpPr>
          <p:spPr>
            <a:xfrm>
              <a:off x="8150000" y="3020000"/>
              <a:ext cx="1480000" cy="940000"/>
            </a:xfrm>
            <a:prstGeom prst="roundRect">
              <a:avLst/>
            </a:prstGeom>
            <a:solidFill>
              <a:srgbClr val="86C8BC"/>
            </a:solidFill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2000" b="1">
                  <a:solidFill>
                    <a:srgbClr val="2D4059"/>
                  </a:solidFill>
                  <a:latin typeface="Aptos"/>
                </a:rPr>
                <a:t>EA</a:t>
              </a:r>
            </a:p>
            <a:p>
              <a:pPr algn="ctr"/>
              <a:r>
                <a:rPr sz="1100">
                  <a:solidFill>
                    <a:srgbClr val="2D4059"/>
                  </a:solidFill>
                  <a:latin typeface="Aptos"/>
                </a:rPr>
                <a:t>Repository</a:t>
              </a:r>
            </a:p>
          </p:txBody>
        </p:sp>
        <p:sp>
          <p:nvSpPr>
            <p:cNvPr id="53" name="Rounded Rectangle 41">
              <a:extLst>
                <a:ext uri="{FF2B5EF4-FFF2-40B4-BE49-F238E27FC236}">
                  <a16:creationId xmlns:a16="http://schemas.microsoft.com/office/drawing/2014/main" id="{4325BDF5-2BB0-405A-A650-771FF3101A45}"/>
                </a:ext>
              </a:extLst>
            </p:cNvPr>
            <p:cNvSpPr/>
            <p:nvPr/>
          </p:nvSpPr>
          <p:spPr>
            <a:xfrm>
              <a:off x="6880000" y="2260000"/>
              <a:ext cx="1200000" cy="470000"/>
            </a:xfrm>
            <a:prstGeom prst="roundRect">
              <a:avLst/>
            </a:prstGeom>
            <a:solidFill>
              <a:srgbClr val="BFD7EA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300" b="1">
                  <a:solidFill>
                    <a:srgbClr val="2D4059"/>
                  </a:solidFill>
                  <a:latin typeface="Aptos"/>
                </a:rPr>
                <a:t>UML</a:t>
              </a:r>
            </a:p>
          </p:txBody>
        </p:sp>
        <p:sp>
          <p:nvSpPr>
            <p:cNvPr id="54" name="Rounded Rectangle 43">
              <a:extLst>
                <a:ext uri="{FF2B5EF4-FFF2-40B4-BE49-F238E27FC236}">
                  <a16:creationId xmlns:a16="http://schemas.microsoft.com/office/drawing/2014/main" id="{ADA5DF7A-E461-C93F-7E0C-896422994E7D}"/>
                </a:ext>
              </a:extLst>
            </p:cNvPr>
            <p:cNvSpPr/>
            <p:nvPr/>
          </p:nvSpPr>
          <p:spPr>
            <a:xfrm>
              <a:off x="9540000" y="2260000"/>
              <a:ext cx="1200000" cy="470000"/>
            </a:xfrm>
            <a:prstGeom prst="roundRect">
              <a:avLst/>
            </a:prstGeom>
            <a:solidFill>
              <a:srgbClr val="FFDCCC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300" b="1">
                  <a:solidFill>
                    <a:srgbClr val="2D4059"/>
                  </a:solidFill>
                  <a:latin typeface="Aptos"/>
                </a:rPr>
                <a:t>BPMN</a:t>
              </a:r>
            </a:p>
          </p:txBody>
        </p:sp>
        <p:sp>
          <p:nvSpPr>
            <p:cNvPr id="55" name="Rounded Rectangle 45">
              <a:extLst>
                <a:ext uri="{FF2B5EF4-FFF2-40B4-BE49-F238E27FC236}">
                  <a16:creationId xmlns:a16="http://schemas.microsoft.com/office/drawing/2014/main" id="{F9B68DE5-3226-0517-7E8E-2B0885025482}"/>
                </a:ext>
              </a:extLst>
            </p:cNvPr>
            <p:cNvSpPr/>
            <p:nvPr/>
          </p:nvSpPr>
          <p:spPr>
            <a:xfrm>
              <a:off x="6610000" y="3490000"/>
              <a:ext cx="1400000" cy="470000"/>
            </a:xfrm>
            <a:prstGeom prst="roundRect">
              <a:avLst/>
            </a:prstGeom>
            <a:solidFill>
              <a:srgbClr val="DFD3F5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300" b="1">
                  <a:solidFill>
                    <a:srgbClr val="2D4059"/>
                  </a:solidFill>
                  <a:latin typeface="Aptos"/>
                </a:rPr>
                <a:t>SysML</a:t>
              </a:r>
            </a:p>
          </p:txBody>
        </p:sp>
        <p:sp>
          <p:nvSpPr>
            <p:cNvPr id="56" name="Rounded Rectangle 47">
              <a:extLst>
                <a:ext uri="{FF2B5EF4-FFF2-40B4-BE49-F238E27FC236}">
                  <a16:creationId xmlns:a16="http://schemas.microsoft.com/office/drawing/2014/main" id="{0952F868-7A75-3B58-7809-E6826509B4BF}"/>
                </a:ext>
              </a:extLst>
            </p:cNvPr>
            <p:cNvSpPr/>
            <p:nvPr/>
          </p:nvSpPr>
          <p:spPr>
            <a:xfrm>
              <a:off x="9790000" y="3490000"/>
              <a:ext cx="1400000" cy="470000"/>
            </a:xfrm>
            <a:prstGeom prst="roundRect">
              <a:avLst/>
            </a:prstGeom>
            <a:solidFill>
              <a:srgbClr val="C6E8DD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300" b="1">
                  <a:solidFill>
                    <a:srgbClr val="2D4059"/>
                  </a:solidFill>
                  <a:latin typeface="Aptos"/>
                </a:rPr>
                <a:t>ArchiMate</a:t>
              </a:r>
            </a:p>
          </p:txBody>
        </p:sp>
        <p:sp>
          <p:nvSpPr>
            <p:cNvPr id="57" name="Rounded Rectangle 49">
              <a:extLst>
                <a:ext uri="{FF2B5EF4-FFF2-40B4-BE49-F238E27FC236}">
                  <a16:creationId xmlns:a16="http://schemas.microsoft.com/office/drawing/2014/main" id="{AC91416E-77D4-D9D6-C035-95B470A437B4}"/>
                </a:ext>
              </a:extLst>
            </p:cNvPr>
            <p:cNvSpPr/>
            <p:nvPr/>
          </p:nvSpPr>
          <p:spPr>
            <a:xfrm>
              <a:off x="7090000" y="4310000"/>
              <a:ext cx="1200000" cy="470000"/>
            </a:xfrm>
            <a:prstGeom prst="roundRect">
              <a:avLst/>
            </a:prstGeom>
            <a:solidFill>
              <a:srgbClr val="F6EBB5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300" b="1">
                  <a:solidFill>
                    <a:srgbClr val="2D4059"/>
                  </a:solidFill>
                  <a:latin typeface="Aptos"/>
                </a:rPr>
                <a:t>REQ</a:t>
              </a:r>
            </a:p>
          </p:txBody>
        </p:sp>
        <p:sp>
          <p:nvSpPr>
            <p:cNvPr id="58" name="Rounded Rectangle 51">
              <a:extLst>
                <a:ext uri="{FF2B5EF4-FFF2-40B4-BE49-F238E27FC236}">
                  <a16:creationId xmlns:a16="http://schemas.microsoft.com/office/drawing/2014/main" id="{D80F2379-83F9-D5D4-4503-1F6F4243F253}"/>
                </a:ext>
              </a:extLst>
            </p:cNvPr>
            <p:cNvSpPr/>
            <p:nvPr/>
          </p:nvSpPr>
          <p:spPr>
            <a:xfrm>
              <a:off x="9300000" y="4310000"/>
              <a:ext cx="1400000" cy="470000"/>
            </a:xfrm>
            <a:prstGeom prst="roundRect">
              <a:avLst/>
            </a:prstGeom>
            <a:solidFill>
              <a:srgbClr val="F4CAD8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300" b="1">
                  <a:solidFill>
                    <a:srgbClr val="2D4059"/>
                  </a:solidFill>
                  <a:latin typeface="Aptos"/>
                </a:rPr>
                <a:t>DOC/CODE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que soporta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9584" cy="4480560"/>
          </a:xfrm>
          <a:prstGeom prst="roundRect">
            <a:avLst>
              <a:gd name="adj" fmla="val 2591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60120" y="2057400"/>
            <a:ext cx="685800" cy="68580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pptx_ea/icon_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222885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7" name="Text 4"/>
          <p:cNvSpPr/>
          <p:nvPr/>
        </p:nvSpPr>
        <p:spPr>
          <a:xfrm>
            <a:off x="960120" y="2880360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98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· Estructura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60120" y="3172968"/>
            <a:ext cx="2889504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2.5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60120" y="3749040"/>
            <a:ext cx="2889504" cy="2194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Unificado de Modelado, versión más reciente del estándar OMG. Diagramas estructurales y de comportamiento: clases, secuencia, casos de uso, actividad, componentes y más.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25696" y="1691640"/>
            <a:ext cx="3529584" cy="4480560"/>
          </a:xfrm>
          <a:prstGeom prst="roundRect">
            <a:avLst>
              <a:gd name="adj" fmla="val 2591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745736" y="2057400"/>
            <a:ext cx="685800" cy="68580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2" name="Image 1" descr="/home/claude/pptx_ea/icon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186" y="222885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13" name="Text 9"/>
          <p:cNvSpPr/>
          <p:nvPr/>
        </p:nvSpPr>
        <p:spPr>
          <a:xfrm>
            <a:off x="4745736" y="2880360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98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Procesos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745736" y="3172968"/>
            <a:ext cx="2889504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BPMN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745736" y="3749040"/>
            <a:ext cx="2889504" cy="2194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Model &amp; Notation. Modelado de procesos de negocio con flujos de trabajo visuales e intuitivos; estándar OMG para análisis y automatización de procesos.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11312" y="1691640"/>
            <a:ext cx="3529584" cy="4480560"/>
          </a:xfrm>
          <a:prstGeom prst="roundRect">
            <a:avLst>
              <a:gd name="adj" fmla="val 2591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8531352" y="2057400"/>
            <a:ext cx="685800" cy="68580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8" name="Image 2" descr="/home/claude/pptx_ea/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2802" y="222885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19" name="Text 14"/>
          <p:cNvSpPr/>
          <p:nvPr/>
        </p:nvSpPr>
        <p:spPr>
          <a:xfrm>
            <a:off x="8531352" y="2880360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98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· Sistemas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531352" y="3172968"/>
            <a:ext cx="2889504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SysML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531352" y="3749040"/>
            <a:ext cx="2889504" cy="2194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Modeling Language. Extensión de UML para ingeniería de sistemas: diagramas de requisitos, bloques y parámetros. También soporta ArchiMate y MDG Technologies.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Enterprise Architect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modelado integral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 →  Requisitos  →  Análisis  →  Diseño  →  Implementación  →  Pruebas  →  Mantenimiento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13232" y="1755648"/>
            <a:ext cx="329184" cy="329184"/>
          </a:xfrm>
          <a:prstGeom prst="ellipse">
            <a:avLst/>
          </a:prstGeom>
          <a:solidFill>
            <a:srgbClr val="F8D6B8"/>
          </a:solidFill>
          <a:ln w="1905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17556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1389888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03120" y="1920240"/>
            <a:ext cx="352044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44852" y="19202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318004" y="1755648"/>
            <a:ext cx="329184" cy="329184"/>
          </a:xfrm>
          <a:prstGeom prst="ellipse">
            <a:avLst/>
          </a:prstGeom>
          <a:solidFill>
            <a:srgbClr val="F8D6B8"/>
          </a:solidFill>
          <a:ln w="1905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318004" y="17556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90572" y="1920240"/>
            <a:ext cx="1389888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07892" y="1920240"/>
            <a:ext cx="352044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9624" y="19202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922776" y="1755648"/>
            <a:ext cx="329184" cy="329184"/>
          </a:xfrm>
          <a:prstGeom prst="ellipse">
            <a:avLst/>
          </a:prstGeom>
          <a:solidFill>
            <a:srgbClr val="F8D6B8"/>
          </a:solidFill>
          <a:ln w="1905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922776" y="17556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95344" y="1920240"/>
            <a:ext cx="1389888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12664" y="1920240"/>
            <a:ext cx="352044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54396" y="19202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527548" y="1755648"/>
            <a:ext cx="329184" cy="329184"/>
          </a:xfrm>
          <a:prstGeom prst="ellipse">
            <a:avLst/>
          </a:prstGeom>
          <a:solidFill>
            <a:srgbClr val="F8D6B8"/>
          </a:solidFill>
          <a:ln w="1905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527548" y="17556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00116" y="1920240"/>
            <a:ext cx="1389888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17436" y="1920240"/>
            <a:ext cx="352044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59168" y="19202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132320" y="1755648"/>
            <a:ext cx="329184" cy="329184"/>
          </a:xfrm>
          <a:prstGeom prst="ellipse">
            <a:avLst/>
          </a:prstGeom>
          <a:solidFill>
            <a:srgbClr val="F8D6B8"/>
          </a:solidFill>
          <a:ln w="1905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132320" y="17556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04888" y="1920240"/>
            <a:ext cx="1389888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522208" y="1920240"/>
            <a:ext cx="352044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663940" y="19202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737092" y="1755648"/>
            <a:ext cx="329184" cy="329184"/>
          </a:xfrm>
          <a:prstGeom prst="ellipse">
            <a:avLst/>
          </a:prstGeom>
          <a:solidFill>
            <a:srgbClr val="F8D6B8"/>
          </a:solidFill>
          <a:ln w="1905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737092" y="17556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09660" y="1920240"/>
            <a:ext cx="1389888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126980" y="1920240"/>
            <a:ext cx="352044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268712" y="19202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0341864" y="1755648"/>
            <a:ext cx="329184" cy="329184"/>
          </a:xfrm>
          <a:prstGeom prst="ellipse">
            <a:avLst/>
          </a:prstGeom>
          <a:solidFill>
            <a:srgbClr val="F8D6B8"/>
          </a:solidFill>
          <a:ln w="1905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0341864" y="17556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314432" y="1920240"/>
            <a:ext cx="1389888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32461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1" name="Image 0" descr="/home/claude/pptx_ea/icon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3829050"/>
            <a:ext cx="251460" cy="251460"/>
          </a:xfrm>
          <a:prstGeom prst="rect">
            <a:avLst/>
          </a:prstGeom>
          <a:ln>
            <a:noFill/>
          </a:ln>
        </p:spPr>
      </p:pic>
      <p:sp>
        <p:nvSpPr>
          <p:cNvPr id="42" name="Text 39"/>
          <p:cNvSpPr/>
          <p:nvPr/>
        </p:nvSpPr>
        <p:spPr>
          <a:xfrm>
            <a:off x="1508760" y="342900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completa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1508760" y="3776472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 cada requisito con su diseño, implementación y prueba correspondiente.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263640" y="32461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6492240" y="3703320"/>
            <a:ext cx="502920" cy="50292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6" name="Image 1" descr="/home/claude/pptx_ea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0" y="3829050"/>
            <a:ext cx="251460" cy="251460"/>
          </a:xfrm>
          <a:prstGeom prst="rect">
            <a:avLst/>
          </a:prstGeom>
          <a:ln>
            <a:noFill/>
          </a:ln>
        </p:spPr>
      </p:pic>
      <p:sp>
        <p:nvSpPr>
          <p:cNvPr id="47" name="Text 43"/>
          <p:cNvSpPr/>
          <p:nvPr/>
        </p:nvSpPr>
        <p:spPr>
          <a:xfrm>
            <a:off x="7132320" y="342900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central</a:t>
            </a:r>
            <a:endParaRPr lang="en-US" sz="1350" dirty="0"/>
          </a:p>
        </p:txBody>
      </p:sp>
      <p:sp>
        <p:nvSpPr>
          <p:cNvPr id="48" name="Text 44"/>
          <p:cNvSpPr/>
          <p:nvPr/>
        </p:nvSpPr>
        <p:spPr>
          <a:xfrm>
            <a:off x="7132320" y="3776472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artefactos y modelos se almacenan en un único repositorio compartido.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640080" y="498348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Shape 46"/>
          <p:cNvSpPr/>
          <p:nvPr/>
        </p:nvSpPr>
        <p:spPr>
          <a:xfrm>
            <a:off x="868680" y="5440680"/>
            <a:ext cx="502920" cy="50292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51" name="Image 2" descr="/home/claude/pptx_ea/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" y="5566410"/>
            <a:ext cx="251460" cy="251460"/>
          </a:xfrm>
          <a:prstGeom prst="rect">
            <a:avLst/>
          </a:prstGeom>
          <a:ln>
            <a:noFill/>
          </a:ln>
        </p:spPr>
      </p:pic>
      <p:sp>
        <p:nvSpPr>
          <p:cNvPr id="52" name="Text 47"/>
          <p:cNvSpPr/>
          <p:nvPr/>
        </p:nvSpPr>
        <p:spPr>
          <a:xfrm>
            <a:off x="1508760" y="51663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integral</a:t>
            </a:r>
            <a:endParaRPr lang="en-US" sz="1350" dirty="0"/>
          </a:p>
        </p:txBody>
      </p:sp>
      <p:sp>
        <p:nvSpPr>
          <p:cNvPr id="53" name="Text 48"/>
          <p:cNvSpPr/>
          <p:nvPr/>
        </p:nvSpPr>
        <p:spPr>
          <a:xfrm>
            <a:off x="1508760" y="5513832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visión de negocio hasta el código: un solo entorno, múltiples vistas.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6263640" y="498348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Shape 50"/>
          <p:cNvSpPr/>
          <p:nvPr/>
        </p:nvSpPr>
        <p:spPr>
          <a:xfrm>
            <a:off x="6492240" y="5440680"/>
            <a:ext cx="502920" cy="50292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56" name="Image 3" descr="/home/claude/pptx_ea/icon_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970" y="5566410"/>
            <a:ext cx="251460" cy="251460"/>
          </a:xfrm>
          <a:prstGeom prst="rect">
            <a:avLst/>
          </a:prstGeom>
          <a:ln>
            <a:noFill/>
          </a:ln>
        </p:spPr>
      </p:pic>
      <p:sp>
        <p:nvSpPr>
          <p:cNvPr id="57" name="Text 51"/>
          <p:cNvSpPr/>
          <p:nvPr/>
        </p:nvSpPr>
        <p:spPr>
          <a:xfrm>
            <a:off x="7132320" y="51663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automática</a:t>
            </a:r>
            <a:endParaRPr lang="en-US" sz="1350" dirty="0"/>
          </a:p>
        </p:txBody>
      </p:sp>
      <p:sp>
        <p:nvSpPr>
          <p:cNvPr id="58" name="Text 52"/>
          <p:cNvSpPr/>
          <p:nvPr/>
        </p:nvSpPr>
        <p:spPr>
          <a:xfrm>
            <a:off x="7132320" y="5513832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reportes y documentos técnicos directamente desde los modelos UML/BPMN.</a:t>
            </a:r>
            <a:endParaRPr lang="en-US" sz="1100" dirty="0"/>
          </a:p>
        </p:txBody>
      </p:sp>
      <p:sp>
        <p:nvSpPr>
          <p:cNvPr id="59" name="Text 53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Enterprise Architect</a:t>
            </a:r>
            <a:endParaRPr lang="en-US" sz="900" dirty="0"/>
          </a:p>
        </p:txBody>
      </p:sp>
      <p:sp>
        <p:nvSpPr>
          <p:cNvPr id="60" name="Text 5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DE MODELADO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que permite crear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675120" cy="1417320"/>
          </a:xfrm>
          <a:prstGeom prst="roundRect">
            <a:avLst>
              <a:gd name="adj" fmla="val 6452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96112" y="2011680"/>
            <a:ext cx="640080" cy="64008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pptx_ea/icon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2171700"/>
            <a:ext cx="320040" cy="320040"/>
          </a:xfrm>
          <a:prstGeom prst="rect">
            <a:avLst/>
          </a:prstGeom>
          <a:ln>
            <a:noFill/>
          </a:ln>
        </p:spPr>
      </p:pic>
      <p:sp>
        <p:nvSpPr>
          <p:cNvPr id="7" name="Text 4"/>
          <p:cNvSpPr/>
          <p:nvPr/>
        </p:nvSpPr>
        <p:spPr>
          <a:xfrm>
            <a:off x="1737360" y="1856232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· Actividad · Secuencia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37360" y="2240280"/>
            <a:ext cx="539496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interacciones entre actores y el sistema (casos de uso), flujos de trabajo paso a paso (actividad) y comunicación entre objetos en el tiempo (secuencia).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6675120" cy="1417320"/>
          </a:xfrm>
          <a:prstGeom prst="roundRect">
            <a:avLst>
              <a:gd name="adj" fmla="val 6452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896112" y="3611880"/>
            <a:ext cx="640080" cy="64008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home/claude/pptx_ea/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" y="3771900"/>
            <a:ext cx="320040" cy="320040"/>
          </a:xfrm>
          <a:prstGeom prst="rect">
            <a:avLst/>
          </a:prstGeom>
          <a:ln>
            <a:noFill/>
          </a:ln>
        </p:spPr>
      </p:pic>
      <p:sp>
        <p:nvSpPr>
          <p:cNvPr id="12" name="Text 8"/>
          <p:cNvSpPr/>
          <p:nvPr/>
        </p:nvSpPr>
        <p:spPr>
          <a:xfrm>
            <a:off x="1737360" y="3456432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· Componentes · Despliegue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737360" y="3840480"/>
            <a:ext cx="539496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estructura estática del sistema (clases), organiza módulos y dependencias del software (componentes) y representa la infraestructura física de despliegue.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40080" y="4892040"/>
            <a:ext cx="6675120" cy="1417320"/>
          </a:xfrm>
          <a:prstGeom prst="roundRect">
            <a:avLst>
              <a:gd name="adj" fmla="val 6452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96112" y="5212080"/>
            <a:ext cx="640080" cy="64008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/home/claude/pptx_ea/icon_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" y="5372100"/>
            <a:ext cx="320040" cy="320040"/>
          </a:xfrm>
          <a:prstGeom prst="rect">
            <a:avLst/>
          </a:prstGeom>
          <a:ln>
            <a:noFill/>
          </a:ln>
        </p:spPr>
      </p:pic>
      <p:sp>
        <p:nvSpPr>
          <p:cNvPr id="17" name="Text 12"/>
          <p:cNvSpPr/>
          <p:nvPr/>
        </p:nvSpPr>
        <p:spPr>
          <a:xfrm>
            <a:off x="1737360" y="5056632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de estados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37360" y="5440680"/>
            <a:ext cx="539496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los estados posibles de un objeto y las transiciones entre ellos ante eventos. Ideal para modelar comportamiento dinámico y ciclos de vida de entidades del sistema.</a:t>
            </a:r>
            <a:endParaRPr lang="en-US" sz="1080" dirty="0"/>
          </a:p>
        </p:txBody>
      </p:sp>
      <p:sp>
        <p:nvSpPr>
          <p:cNvPr id="41" name="Text 36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Enterprise Architect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D217FF38-2117-54E7-134E-1ED35E84076D}"/>
              </a:ext>
            </a:extLst>
          </p:cNvPr>
          <p:cNvGrpSpPr/>
          <p:nvPr/>
        </p:nvGrpSpPr>
        <p:grpSpPr>
          <a:xfrm>
            <a:off x="7890000" y="2063977"/>
            <a:ext cx="3590000" cy="3740000"/>
            <a:chOff x="7610000" y="1690000"/>
            <a:chExt cx="3590000" cy="3740000"/>
          </a:xfrm>
        </p:grpSpPr>
        <p:sp>
          <p:nvSpPr>
            <p:cNvPr id="44" name="Rounded Rectangle 19">
              <a:extLst>
                <a:ext uri="{FF2B5EF4-FFF2-40B4-BE49-F238E27FC236}">
                  <a16:creationId xmlns:a16="http://schemas.microsoft.com/office/drawing/2014/main" id="{D5F29094-7FC9-CBBB-1DFF-A0DA4E75A3B1}"/>
                </a:ext>
              </a:extLst>
            </p:cNvPr>
            <p:cNvSpPr/>
            <p:nvPr/>
          </p:nvSpPr>
          <p:spPr>
            <a:xfrm>
              <a:off x="7610000" y="1690000"/>
              <a:ext cx="3590000" cy="3740000"/>
            </a:xfrm>
            <a:prstGeom prst="roundRect">
              <a:avLst/>
            </a:prstGeom>
            <a:solidFill>
              <a:srgbClr val="FAFAF8"/>
            </a:solidFill>
            <a:ln w="1524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20">
              <a:extLst>
                <a:ext uri="{FF2B5EF4-FFF2-40B4-BE49-F238E27FC236}">
                  <a16:creationId xmlns:a16="http://schemas.microsoft.com/office/drawing/2014/main" id="{244857FC-3A9F-B1ED-5EF9-6E841D8B9A15}"/>
                </a:ext>
              </a:extLst>
            </p:cNvPr>
            <p:cNvSpPr txBox="1"/>
            <p:nvPr/>
          </p:nvSpPr>
          <p:spPr>
            <a:xfrm>
              <a:off x="7870000" y="1910000"/>
              <a:ext cx="1400000" cy="2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45720" tIns="22860" rIns="45720" bIns="22860" anchor="ctr">
              <a:spAutoFit/>
            </a:bodyPr>
            <a:lstStyle/>
            <a:p>
              <a:pPr algn="l"/>
              <a:r>
                <a:rPr sz="1400" b="1">
                  <a:solidFill>
                    <a:srgbClr val="6F7A82"/>
                  </a:solidFill>
                  <a:latin typeface="Aptos"/>
                </a:rPr>
                <a:t>Ejemplos visuales</a:t>
              </a:r>
            </a:p>
          </p:txBody>
        </p:sp>
        <p:sp>
          <p:nvSpPr>
            <p:cNvPr id="46" name="TextBox 21">
              <a:extLst>
                <a:ext uri="{FF2B5EF4-FFF2-40B4-BE49-F238E27FC236}">
                  <a16:creationId xmlns:a16="http://schemas.microsoft.com/office/drawing/2014/main" id="{0C42FC64-7DF2-4B51-B029-6ACD1E219141}"/>
                </a:ext>
              </a:extLst>
            </p:cNvPr>
            <p:cNvSpPr txBox="1"/>
            <p:nvPr/>
          </p:nvSpPr>
          <p:spPr>
            <a:xfrm>
              <a:off x="7890000" y="2310000"/>
              <a:ext cx="2200000" cy="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45720" tIns="22860" rIns="45720" bIns="22860" anchor="ctr">
              <a:spAutoFit/>
            </a:bodyPr>
            <a:lstStyle/>
            <a:p>
              <a:pPr algn="l"/>
              <a:r>
                <a:rPr sz="1200" b="1">
                  <a:solidFill>
                    <a:srgbClr val="2D4059"/>
                  </a:solidFill>
                  <a:latin typeface="Aptos"/>
                </a:rPr>
                <a:t>Caso de uso</a:t>
              </a:r>
            </a:p>
          </p:txBody>
        </p:sp>
        <p:sp>
          <p:nvSpPr>
            <p:cNvPr id="47" name="Oval 22">
              <a:extLst>
                <a:ext uri="{FF2B5EF4-FFF2-40B4-BE49-F238E27FC236}">
                  <a16:creationId xmlns:a16="http://schemas.microsoft.com/office/drawing/2014/main" id="{4BF8640B-85E2-CE9D-32D1-909A9211AB0A}"/>
                </a:ext>
              </a:extLst>
            </p:cNvPr>
            <p:cNvSpPr/>
            <p:nvPr/>
          </p:nvSpPr>
          <p:spPr>
            <a:xfrm>
              <a:off x="7910000" y="2660000"/>
              <a:ext cx="330000" cy="330000"/>
            </a:xfrm>
            <a:prstGeom prst="ellipse">
              <a:avLst/>
            </a:prstGeom>
            <a:solidFill>
              <a:srgbClr val="BFD7EA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" b="1">
                <a:solidFill>
                  <a:srgbClr val="2D4059"/>
                </a:solidFill>
                <a:latin typeface="Aptos"/>
              </a:endParaRPr>
            </a:p>
          </p:txBody>
        </p:sp>
        <p:cxnSp>
          <p:nvCxnSpPr>
            <p:cNvPr id="48" name="Connector 23">
              <a:extLst>
                <a:ext uri="{FF2B5EF4-FFF2-40B4-BE49-F238E27FC236}">
                  <a16:creationId xmlns:a16="http://schemas.microsoft.com/office/drawing/2014/main" id="{49E52FD6-E237-2DB1-785C-CC80AB0CCE3D}"/>
                </a:ext>
              </a:extLst>
            </p:cNvPr>
            <p:cNvCxnSpPr/>
            <p:nvPr/>
          </p:nvCxnSpPr>
          <p:spPr>
            <a:xfrm>
              <a:off x="8075000" y="2990000"/>
              <a:ext cx="0" cy="31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24">
              <a:extLst>
                <a:ext uri="{FF2B5EF4-FFF2-40B4-BE49-F238E27FC236}">
                  <a16:creationId xmlns:a16="http://schemas.microsoft.com/office/drawing/2014/main" id="{C4A8AB7A-D405-16A3-9BEC-691803A1A978}"/>
                </a:ext>
              </a:extLst>
            </p:cNvPr>
            <p:cNvCxnSpPr/>
            <p:nvPr/>
          </p:nvCxnSpPr>
          <p:spPr>
            <a:xfrm>
              <a:off x="7980000" y="3110000"/>
              <a:ext cx="19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25">
              <a:extLst>
                <a:ext uri="{FF2B5EF4-FFF2-40B4-BE49-F238E27FC236}">
                  <a16:creationId xmlns:a16="http://schemas.microsoft.com/office/drawing/2014/main" id="{1CBDD786-58C0-59D9-AE1F-3007F000D203}"/>
                </a:ext>
              </a:extLst>
            </p:cNvPr>
            <p:cNvCxnSpPr/>
            <p:nvPr/>
          </p:nvCxnSpPr>
          <p:spPr>
            <a:xfrm flipH="1">
              <a:off x="7985000" y="3300000"/>
              <a:ext cx="90000" cy="15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26">
              <a:extLst>
                <a:ext uri="{FF2B5EF4-FFF2-40B4-BE49-F238E27FC236}">
                  <a16:creationId xmlns:a16="http://schemas.microsoft.com/office/drawing/2014/main" id="{1E2E98C3-0D00-DDB2-7D97-148D0DC26899}"/>
                </a:ext>
              </a:extLst>
            </p:cNvPr>
            <p:cNvCxnSpPr/>
            <p:nvPr/>
          </p:nvCxnSpPr>
          <p:spPr>
            <a:xfrm>
              <a:off x="8075000" y="3300000"/>
              <a:ext cx="90000" cy="15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ed Rectangle 27">
              <a:extLst>
                <a:ext uri="{FF2B5EF4-FFF2-40B4-BE49-F238E27FC236}">
                  <a16:creationId xmlns:a16="http://schemas.microsoft.com/office/drawing/2014/main" id="{CD28BCC6-8712-8C18-91C7-A24F1101A113}"/>
                </a:ext>
              </a:extLst>
            </p:cNvPr>
            <p:cNvSpPr/>
            <p:nvPr/>
          </p:nvSpPr>
          <p:spPr>
            <a:xfrm>
              <a:off x="8870000" y="2550000"/>
              <a:ext cx="1660000" cy="9800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28">
              <a:extLst>
                <a:ext uri="{FF2B5EF4-FFF2-40B4-BE49-F238E27FC236}">
                  <a16:creationId xmlns:a16="http://schemas.microsoft.com/office/drawing/2014/main" id="{85575568-9E1C-4A0E-7B86-7FC85196C43A}"/>
                </a:ext>
              </a:extLst>
            </p:cNvPr>
            <p:cNvSpPr txBox="1"/>
            <p:nvPr/>
          </p:nvSpPr>
          <p:spPr>
            <a:xfrm>
              <a:off x="9080000" y="2600000"/>
              <a:ext cx="1200000" cy="20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45720" tIns="22860" rIns="45720" bIns="22860" anchor="ctr">
              <a:spAutoFit/>
            </a:bodyPr>
            <a:lstStyle/>
            <a:p>
              <a:pPr algn="ctr"/>
              <a:r>
                <a:rPr sz="1000" b="1">
                  <a:solidFill>
                    <a:srgbClr val="6F7A82"/>
                  </a:solidFill>
                  <a:latin typeface="Aptos"/>
                </a:rPr>
                <a:t>Sistema</a:t>
              </a:r>
            </a:p>
          </p:txBody>
        </p:sp>
        <p:sp>
          <p:nvSpPr>
            <p:cNvPr id="54" name="Oval 29">
              <a:extLst>
                <a:ext uri="{FF2B5EF4-FFF2-40B4-BE49-F238E27FC236}">
                  <a16:creationId xmlns:a16="http://schemas.microsoft.com/office/drawing/2014/main" id="{89108961-B4BB-72C2-1B61-421A705FC83D}"/>
                </a:ext>
              </a:extLst>
            </p:cNvPr>
            <p:cNvSpPr/>
            <p:nvPr/>
          </p:nvSpPr>
          <p:spPr>
            <a:xfrm>
              <a:off x="9190000" y="2910000"/>
              <a:ext cx="1050000" cy="420000"/>
            </a:xfrm>
            <a:prstGeom prst="ellipse">
              <a:avLst/>
            </a:prstGeom>
            <a:solidFill>
              <a:srgbClr val="C6E8DD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>
                  <a:solidFill>
                    <a:srgbClr val="2D4059"/>
                  </a:solidFill>
                  <a:latin typeface="Aptos"/>
                </a:rPr>
                <a:t>Caso de
uso</a:t>
              </a:r>
            </a:p>
          </p:txBody>
        </p:sp>
        <p:cxnSp>
          <p:nvCxnSpPr>
            <p:cNvPr id="55" name="Connector 30">
              <a:extLst>
                <a:ext uri="{FF2B5EF4-FFF2-40B4-BE49-F238E27FC236}">
                  <a16:creationId xmlns:a16="http://schemas.microsoft.com/office/drawing/2014/main" id="{06C25687-6515-F66A-5EC9-F7BAB497204F}"/>
                </a:ext>
              </a:extLst>
            </p:cNvPr>
            <p:cNvCxnSpPr/>
            <p:nvPr/>
          </p:nvCxnSpPr>
          <p:spPr>
            <a:xfrm>
              <a:off x="8210000" y="3120000"/>
              <a:ext cx="98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31">
              <a:extLst>
                <a:ext uri="{FF2B5EF4-FFF2-40B4-BE49-F238E27FC236}">
                  <a16:creationId xmlns:a16="http://schemas.microsoft.com/office/drawing/2014/main" id="{C0CE05C8-0E44-C160-AA71-FBAFD2CEA274}"/>
                </a:ext>
              </a:extLst>
            </p:cNvPr>
            <p:cNvSpPr txBox="1"/>
            <p:nvPr/>
          </p:nvSpPr>
          <p:spPr>
            <a:xfrm>
              <a:off x="7890000" y="3600000"/>
              <a:ext cx="2200000" cy="2600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lIns="45720" tIns="22860" rIns="45720" bIns="22860" anchor="ctr">
              <a:spAutoFit/>
            </a:bodyPr>
            <a:lstStyle/>
            <a:p>
              <a:pPr algn="l"/>
              <a:r>
                <a:rPr sz="1200" b="1">
                  <a:solidFill>
                    <a:srgbClr val="2D4059"/>
                  </a:solidFill>
                  <a:latin typeface="Aptos"/>
                </a:rPr>
                <a:t>Secuencia</a:t>
              </a:r>
            </a:p>
          </p:txBody>
        </p:sp>
        <p:sp>
          <p:nvSpPr>
            <p:cNvPr id="57" name="TextBox 32">
              <a:extLst>
                <a:ext uri="{FF2B5EF4-FFF2-40B4-BE49-F238E27FC236}">
                  <a16:creationId xmlns:a16="http://schemas.microsoft.com/office/drawing/2014/main" id="{544C37E3-862A-8758-59D1-117A27EB7982}"/>
                </a:ext>
              </a:extLst>
            </p:cNvPr>
            <p:cNvSpPr txBox="1"/>
            <p:nvPr/>
          </p:nvSpPr>
          <p:spPr>
            <a:xfrm>
              <a:off x="7930000" y="3890000"/>
              <a:ext cx="620000" cy="18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45720" tIns="22860" rIns="45720" bIns="22860" anchor="ctr">
              <a:spAutoFit/>
            </a:bodyPr>
            <a:lstStyle/>
            <a:p>
              <a:pPr algn="ctr"/>
              <a:r>
                <a:rPr sz="1000" b="1">
                  <a:solidFill>
                    <a:srgbClr val="6F7A82"/>
                  </a:solidFill>
                  <a:latin typeface="Aptos"/>
                </a:rPr>
                <a:t>A</a:t>
              </a:r>
            </a:p>
          </p:txBody>
        </p:sp>
        <p:sp>
          <p:nvSpPr>
            <p:cNvPr id="58" name="TextBox 33">
              <a:extLst>
                <a:ext uri="{FF2B5EF4-FFF2-40B4-BE49-F238E27FC236}">
                  <a16:creationId xmlns:a16="http://schemas.microsoft.com/office/drawing/2014/main" id="{BC2E8779-67F2-B603-20E6-34C1E3C74403}"/>
                </a:ext>
              </a:extLst>
            </p:cNvPr>
            <p:cNvSpPr txBox="1"/>
            <p:nvPr/>
          </p:nvSpPr>
          <p:spPr>
            <a:xfrm>
              <a:off x="10000000" y="3890000"/>
              <a:ext cx="620000" cy="18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45720" tIns="22860" rIns="45720" bIns="22860" anchor="ctr">
              <a:spAutoFit/>
            </a:bodyPr>
            <a:lstStyle/>
            <a:p>
              <a:pPr algn="ctr"/>
              <a:r>
                <a:rPr sz="1000" b="1">
                  <a:solidFill>
                    <a:srgbClr val="6F7A82"/>
                  </a:solidFill>
                  <a:latin typeface="Aptos"/>
                </a:rPr>
                <a:t>B</a:t>
              </a:r>
            </a:p>
          </p:txBody>
        </p:sp>
        <p:cxnSp>
          <p:nvCxnSpPr>
            <p:cNvPr id="59" name="Connector 34">
              <a:extLst>
                <a:ext uri="{FF2B5EF4-FFF2-40B4-BE49-F238E27FC236}">
                  <a16:creationId xmlns:a16="http://schemas.microsoft.com/office/drawing/2014/main" id="{334ED2DA-AB8C-C23F-D90A-3B67D3999F25}"/>
                </a:ext>
              </a:extLst>
            </p:cNvPr>
            <p:cNvCxnSpPr/>
            <p:nvPr/>
          </p:nvCxnSpPr>
          <p:spPr>
            <a:xfrm>
              <a:off x="8120000" y="4100000"/>
              <a:ext cx="0" cy="52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35">
              <a:extLst>
                <a:ext uri="{FF2B5EF4-FFF2-40B4-BE49-F238E27FC236}">
                  <a16:creationId xmlns:a16="http://schemas.microsoft.com/office/drawing/2014/main" id="{0B751E15-96E4-FB38-E17D-3FEC1D924AC6}"/>
                </a:ext>
              </a:extLst>
            </p:cNvPr>
            <p:cNvCxnSpPr/>
            <p:nvPr/>
          </p:nvCxnSpPr>
          <p:spPr>
            <a:xfrm>
              <a:off x="10190000" y="4100000"/>
              <a:ext cx="0" cy="52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36">
              <a:extLst>
                <a:ext uri="{FF2B5EF4-FFF2-40B4-BE49-F238E27FC236}">
                  <a16:creationId xmlns:a16="http://schemas.microsoft.com/office/drawing/2014/main" id="{8FF517F1-9C9A-9D31-2534-A2BC7C13B892}"/>
                </a:ext>
              </a:extLst>
            </p:cNvPr>
            <p:cNvCxnSpPr/>
            <p:nvPr/>
          </p:nvCxnSpPr>
          <p:spPr>
            <a:xfrm>
              <a:off x="8230000" y="4270000"/>
              <a:ext cx="1850000" cy="0"/>
            </a:xfrm>
            <a:prstGeom prst="line">
              <a:avLst/>
            </a:prstGeom>
            <a:ln w="2032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37">
              <a:extLst>
                <a:ext uri="{FF2B5EF4-FFF2-40B4-BE49-F238E27FC236}">
                  <a16:creationId xmlns:a16="http://schemas.microsoft.com/office/drawing/2014/main" id="{9DA99AF7-0C04-C016-BE41-0C85BBFE5F55}"/>
                </a:ext>
              </a:extLst>
            </p:cNvPr>
            <p:cNvSpPr txBox="1"/>
            <p:nvPr/>
          </p:nvSpPr>
          <p:spPr>
            <a:xfrm>
              <a:off x="8850000" y="4120000"/>
              <a:ext cx="750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45720" tIns="22860" rIns="45720" bIns="22860" anchor="ctr">
              <a:spAutoFit/>
            </a:bodyPr>
            <a:lstStyle/>
            <a:p>
              <a:pPr algn="ctr"/>
              <a:r>
                <a:rPr sz="900" b="0">
                  <a:solidFill>
                    <a:srgbClr val="6F7A82"/>
                  </a:solidFill>
                  <a:latin typeface="Aptos"/>
                </a:rPr>
                <a:t>mensaje</a:t>
              </a:r>
            </a:p>
          </p:txBody>
        </p:sp>
        <p:sp>
          <p:nvSpPr>
            <p:cNvPr id="63" name="TextBox 38">
              <a:extLst>
                <a:ext uri="{FF2B5EF4-FFF2-40B4-BE49-F238E27FC236}">
                  <a16:creationId xmlns:a16="http://schemas.microsoft.com/office/drawing/2014/main" id="{B7215C56-054A-5904-37F8-6A9D23066473}"/>
                </a:ext>
              </a:extLst>
            </p:cNvPr>
            <p:cNvSpPr txBox="1"/>
            <p:nvPr/>
          </p:nvSpPr>
          <p:spPr>
            <a:xfrm>
              <a:off x="7890000" y="4680000"/>
              <a:ext cx="2200000" cy="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45720" tIns="22860" rIns="45720" bIns="22860" anchor="ctr">
              <a:spAutoFit/>
            </a:bodyPr>
            <a:lstStyle/>
            <a:p>
              <a:pPr algn="l"/>
              <a:r>
                <a:rPr sz="1200" b="1">
                  <a:solidFill>
                    <a:srgbClr val="2D4059"/>
                  </a:solidFill>
                  <a:latin typeface="Aptos"/>
                </a:rPr>
                <a:t>Estados</a:t>
              </a:r>
            </a:p>
          </p:txBody>
        </p:sp>
        <p:sp>
          <p:nvSpPr>
            <p:cNvPr id="64" name="Rounded Rectangle 39">
              <a:extLst>
                <a:ext uri="{FF2B5EF4-FFF2-40B4-BE49-F238E27FC236}">
                  <a16:creationId xmlns:a16="http://schemas.microsoft.com/office/drawing/2014/main" id="{E9309721-448D-42BD-0ADF-0642D40797C0}"/>
                </a:ext>
              </a:extLst>
            </p:cNvPr>
            <p:cNvSpPr/>
            <p:nvPr/>
          </p:nvSpPr>
          <p:spPr>
            <a:xfrm>
              <a:off x="7930000" y="4980000"/>
              <a:ext cx="1100000" cy="380000"/>
            </a:xfrm>
            <a:prstGeom prst="roundRect">
              <a:avLst/>
            </a:prstGeom>
            <a:solidFill>
              <a:srgbClr val="DFD3F5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1">
                  <a:solidFill>
                    <a:srgbClr val="2D4059"/>
                  </a:solidFill>
                  <a:latin typeface="Aptos"/>
                </a:rPr>
                <a:t>Estado A</a:t>
              </a:r>
            </a:p>
          </p:txBody>
        </p:sp>
        <p:sp>
          <p:nvSpPr>
            <p:cNvPr id="65" name="Rounded Rectangle 40">
              <a:extLst>
                <a:ext uri="{FF2B5EF4-FFF2-40B4-BE49-F238E27FC236}">
                  <a16:creationId xmlns:a16="http://schemas.microsoft.com/office/drawing/2014/main" id="{540A8510-1562-14AE-3C0A-A7E3D373EE96}"/>
                </a:ext>
              </a:extLst>
            </p:cNvPr>
            <p:cNvSpPr/>
            <p:nvPr/>
          </p:nvSpPr>
          <p:spPr>
            <a:xfrm>
              <a:off x="9650000" y="4980000"/>
              <a:ext cx="1100000" cy="380000"/>
            </a:xfrm>
            <a:prstGeom prst="roundRect">
              <a:avLst/>
            </a:prstGeom>
            <a:solidFill>
              <a:srgbClr val="F6EBB5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1">
                  <a:solidFill>
                    <a:srgbClr val="2D4059"/>
                  </a:solidFill>
                  <a:latin typeface="Aptos"/>
                </a:rPr>
                <a:t>Estado B</a:t>
              </a:r>
            </a:p>
          </p:txBody>
        </p:sp>
        <p:cxnSp>
          <p:nvCxnSpPr>
            <p:cNvPr id="66" name="Connector 41">
              <a:extLst>
                <a:ext uri="{FF2B5EF4-FFF2-40B4-BE49-F238E27FC236}">
                  <a16:creationId xmlns:a16="http://schemas.microsoft.com/office/drawing/2014/main" id="{5FA3B8D3-3FBB-D1EF-D643-3D13CCB70D70}"/>
                </a:ext>
              </a:extLst>
            </p:cNvPr>
            <p:cNvCxnSpPr/>
            <p:nvPr/>
          </p:nvCxnSpPr>
          <p:spPr>
            <a:xfrm>
              <a:off x="9030000" y="5170000"/>
              <a:ext cx="620000" cy="0"/>
            </a:xfrm>
            <a:prstGeom prst="line">
              <a:avLst/>
            </a:prstGeom>
            <a:ln w="2032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42">
              <a:extLst>
                <a:ext uri="{FF2B5EF4-FFF2-40B4-BE49-F238E27FC236}">
                  <a16:creationId xmlns:a16="http://schemas.microsoft.com/office/drawing/2014/main" id="{DB19CE42-DE86-6722-8DE5-967FB0FECB29}"/>
                </a:ext>
              </a:extLst>
            </p:cNvPr>
            <p:cNvSpPr txBox="1"/>
            <p:nvPr/>
          </p:nvSpPr>
          <p:spPr>
            <a:xfrm>
              <a:off x="9070000" y="4860000"/>
              <a:ext cx="5800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45720" tIns="22860" rIns="45720" bIns="22860" anchor="ctr">
              <a:spAutoFit/>
            </a:bodyPr>
            <a:lstStyle/>
            <a:p>
              <a:pPr algn="ctr"/>
              <a:r>
                <a:rPr sz="900" b="0">
                  <a:solidFill>
                    <a:srgbClr val="6F7A82"/>
                  </a:solidFill>
                  <a:latin typeface="Aptos"/>
                </a:rPr>
                <a:t>Evento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PRINCIPALES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esencial en tres frentes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9584" cy="4160520"/>
          </a:xfrm>
          <a:prstGeom prst="roundRect">
            <a:avLst>
              <a:gd name="adj" fmla="val 2591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pptx_ea/ic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2114550"/>
            <a:ext cx="297180" cy="297180"/>
          </a:xfrm>
          <a:prstGeom prst="rect">
            <a:avLst/>
          </a:prstGeom>
          <a:ln>
            <a:noFill/>
          </a:ln>
        </p:spPr>
      </p:pic>
      <p:sp>
        <p:nvSpPr>
          <p:cNvPr id="7" name="Text 4"/>
          <p:cNvSpPr/>
          <p:nvPr/>
        </p:nvSpPr>
        <p:spPr>
          <a:xfrm>
            <a:off x="914400" y="2697480"/>
            <a:ext cx="2980944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y trazabilidad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4400" y="3438144"/>
            <a:ext cx="118872" cy="118872"/>
          </a:xfrm>
          <a:prstGeom prst="ellipse">
            <a:avLst/>
          </a:prstGeom>
          <a:solidFill>
            <a:srgbClr val="F8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70432" y="3310128"/>
            <a:ext cx="2752344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 requisito–diseño–prueba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4123944"/>
            <a:ext cx="118872" cy="118872"/>
          </a:xfrm>
          <a:prstGeom prst="ellipse">
            <a:avLst/>
          </a:prstGeom>
          <a:solidFill>
            <a:srgbClr val="F8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170432" y="3995928"/>
            <a:ext cx="2752344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centralizado de artefactos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14400" y="4809744"/>
            <a:ext cx="118872" cy="118872"/>
          </a:xfrm>
          <a:prstGeom prst="ellipse">
            <a:avLst/>
          </a:prstGeom>
          <a:solidFill>
            <a:srgbClr val="F8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170432" y="4681728"/>
            <a:ext cx="2752344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trazabilidad y validación de cobertura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425696" y="1691640"/>
            <a:ext cx="3529584" cy="4160520"/>
          </a:xfrm>
          <a:prstGeom prst="roundRect">
            <a:avLst>
              <a:gd name="adj" fmla="val 2591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4700016" y="1965960"/>
            <a:ext cx="594360" cy="59436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6" name="Image 1" descr="/home/claude/pptx_ea/icon_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606" y="2114550"/>
            <a:ext cx="297180" cy="297180"/>
          </a:xfrm>
          <a:prstGeom prst="rect">
            <a:avLst/>
          </a:prstGeom>
          <a:ln>
            <a:noFill/>
          </a:ln>
        </p:spPr>
      </p:pic>
      <p:sp>
        <p:nvSpPr>
          <p:cNvPr id="17" name="Text 13"/>
          <p:cNvSpPr/>
          <p:nvPr/>
        </p:nvSpPr>
        <p:spPr>
          <a:xfrm>
            <a:off x="4700016" y="2697480"/>
            <a:ext cx="2980944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e ingeniería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4700016" y="3438144"/>
            <a:ext cx="118872" cy="118872"/>
          </a:xfrm>
          <a:prstGeom prst="ellipse">
            <a:avLst/>
          </a:prstGeom>
          <a:solidFill>
            <a:srgbClr val="F8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4956048" y="3310128"/>
            <a:ext cx="2752344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de documentación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700016" y="4123944"/>
            <a:ext cx="118872" cy="118872"/>
          </a:xfrm>
          <a:prstGeom prst="ellipse">
            <a:avLst/>
          </a:prstGeom>
          <a:solidFill>
            <a:srgbClr val="F8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4956048" y="3995928"/>
            <a:ext cx="2752344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 Word / HTML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700016" y="4809744"/>
            <a:ext cx="118872" cy="118872"/>
          </a:xfrm>
          <a:prstGeom prst="ellipse">
            <a:avLst/>
          </a:prstGeom>
          <a:solidFill>
            <a:srgbClr val="F8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4956048" y="4681728"/>
            <a:ext cx="2752344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inversa: sincroniza código y modelo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211312" y="1691640"/>
            <a:ext cx="3529584" cy="4160520"/>
          </a:xfrm>
          <a:prstGeom prst="roundRect">
            <a:avLst>
              <a:gd name="adj" fmla="val 2591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Shape 21"/>
          <p:cNvSpPr/>
          <p:nvPr/>
        </p:nvSpPr>
        <p:spPr>
          <a:xfrm>
            <a:off x="8485632" y="1965960"/>
            <a:ext cx="594360" cy="59436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6" name="Image 2" descr="/home/claude/pptx_ea/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222" y="2114550"/>
            <a:ext cx="297180" cy="297180"/>
          </a:xfrm>
          <a:prstGeom prst="rect">
            <a:avLst/>
          </a:prstGeom>
          <a:ln>
            <a:noFill/>
          </a:ln>
        </p:spPr>
      </p:pic>
      <p:sp>
        <p:nvSpPr>
          <p:cNvPr id="27" name="Text 22"/>
          <p:cNvSpPr/>
          <p:nvPr/>
        </p:nvSpPr>
        <p:spPr>
          <a:xfrm>
            <a:off x="8485632" y="2697480"/>
            <a:ext cx="2980944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y colaboración</a:t>
            </a:r>
            <a:endParaRPr lang="en-US" sz="1550" dirty="0"/>
          </a:p>
        </p:txBody>
      </p:sp>
      <p:sp>
        <p:nvSpPr>
          <p:cNvPr id="28" name="Shape 23"/>
          <p:cNvSpPr/>
          <p:nvPr/>
        </p:nvSpPr>
        <p:spPr>
          <a:xfrm>
            <a:off x="8485632" y="3438144"/>
            <a:ext cx="118872" cy="118872"/>
          </a:xfrm>
          <a:prstGeom prst="ellipse">
            <a:avLst/>
          </a:prstGeom>
          <a:solidFill>
            <a:srgbClr val="F8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 24"/>
          <p:cNvSpPr/>
          <p:nvPr/>
        </p:nvSpPr>
        <p:spPr>
          <a:xfrm>
            <a:off x="8741664" y="3310128"/>
            <a:ext cx="2752344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procesos de negocio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485632" y="4123944"/>
            <a:ext cx="118872" cy="118872"/>
          </a:xfrm>
          <a:prstGeom prst="ellipse">
            <a:avLst/>
          </a:prstGeom>
          <a:solidFill>
            <a:srgbClr val="F8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 26"/>
          <p:cNvSpPr/>
          <p:nvPr/>
        </p:nvSpPr>
        <p:spPr>
          <a:xfrm>
            <a:off x="8741664" y="3995928"/>
            <a:ext cx="2752344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integrado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8485632" y="4809744"/>
            <a:ext cx="118872" cy="118872"/>
          </a:xfrm>
          <a:prstGeom prst="ellipse">
            <a:avLst/>
          </a:prstGeom>
          <a:solidFill>
            <a:srgbClr val="F8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Text 28"/>
          <p:cNvSpPr/>
          <p:nvPr/>
        </p:nvSpPr>
        <p:spPr>
          <a:xfrm>
            <a:off x="8741664" y="4681728"/>
            <a:ext cx="2752344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 multiusuario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640080" y="59893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completa de funciones (21 capacidades) disponible en el informe técnico del equipo.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Enterprise Architect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CLAVE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de Enterprise Architect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9584" cy="4480560"/>
          </a:xfrm>
          <a:prstGeom prst="roundRect">
            <a:avLst>
              <a:gd name="adj" fmla="val 2591"/>
            </a:avLst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60120" y="2057400"/>
            <a:ext cx="685800" cy="685800"/>
          </a:xfrm>
          <a:prstGeom prst="ellipse">
            <a:avLst/>
          </a:prstGeom>
          <a:solidFill>
            <a:srgbClr val="F8D6B8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pptx_ea/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222885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7" name="Text 4"/>
          <p:cNvSpPr/>
          <p:nvPr/>
        </p:nvSpPr>
        <p:spPr>
          <a:xfrm>
            <a:off x="960120" y="2971800"/>
            <a:ext cx="2889504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completo e integrador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794760"/>
            <a:ext cx="2889504" cy="2194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requisitos, análisis y diseño en una sola plataforma. Soporta UML, BPMN, SysML y más estándares, con trazabilidad completa desde los requisitos hasta la implementación.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25696" y="1691640"/>
            <a:ext cx="3529584" cy="4480560"/>
          </a:xfrm>
          <a:prstGeom prst="roundRect">
            <a:avLst>
              <a:gd name="adj" fmla="val 2591"/>
            </a:avLst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745736" y="2057400"/>
            <a:ext cx="685800" cy="685800"/>
          </a:xfrm>
          <a:prstGeom prst="ellipse">
            <a:avLst/>
          </a:prstGeom>
          <a:solidFill>
            <a:srgbClr val="F8D6B8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home/claude/pptx_ea/ic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186" y="222885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12" name="Text 8"/>
          <p:cNvSpPr/>
          <p:nvPr/>
        </p:nvSpPr>
        <p:spPr>
          <a:xfrm>
            <a:off x="4745736" y="2971800"/>
            <a:ext cx="2889504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rendimiento en proyectos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45736" y="3794760"/>
            <a:ext cx="2889504" cy="2194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 para proyectos de gran escala y equipos multidisciplinarios. Repositorio central robusto, simulación de modelos y soporte para arquitecturas empresariales complejas.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11312" y="1691640"/>
            <a:ext cx="3529584" cy="4480560"/>
          </a:xfrm>
          <a:prstGeom prst="roundRect">
            <a:avLst>
              <a:gd name="adj" fmla="val 2591"/>
            </a:avLst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531352" y="2057400"/>
            <a:ext cx="685800" cy="685800"/>
          </a:xfrm>
          <a:prstGeom prst="ellipse">
            <a:avLst/>
          </a:prstGeom>
          <a:solidFill>
            <a:srgbClr val="F8D6B8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/home/claude/pptx_ea/icon_doll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2802" y="222885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17" name="Text 12"/>
          <p:cNvSpPr/>
          <p:nvPr/>
        </p:nvSpPr>
        <p:spPr>
          <a:xfrm>
            <a:off x="8531352" y="2971800"/>
            <a:ext cx="2889504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competitivo y reputación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31352" y="3794760"/>
            <a:ext cx="2889504" cy="2194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Licenciamiento accesible frente a herramientas similares. Reconocida en el ámbito académico y profesional, respaldada por OMG y adoptada en universidades y empresas.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Enterprise Architect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MIRADA HONESTA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a considerar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DF1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640080" cy="640080"/>
          </a:xfrm>
          <a:prstGeom prst="ellipse">
            <a:avLst/>
          </a:prstGeom>
          <a:solidFill>
            <a:srgbClr val="F2D9BE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pptx_ea/icon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171700"/>
            <a:ext cx="320040" cy="320040"/>
          </a:xfrm>
          <a:prstGeom prst="rect">
            <a:avLst/>
          </a:prstGeom>
          <a:ln>
            <a:noFill/>
          </a:ln>
        </p:spPr>
      </p:pic>
      <p:sp>
        <p:nvSpPr>
          <p:cNvPr id="7" name="Text 4"/>
          <p:cNvSpPr/>
          <p:nvPr/>
        </p:nvSpPr>
        <p:spPr>
          <a:xfrm>
            <a:off x="1783080" y="1984248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98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783080" y="224028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4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de aprendizaje y costo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60120" y="3136392"/>
            <a:ext cx="118872" cy="118872"/>
          </a:xfrm>
          <a:prstGeom prst="ellipse">
            <a:avLst/>
          </a:prstGeom>
          <a:solidFill>
            <a:srgbClr val="E8C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216152" y="3008376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 alta para usuarios nuevos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0120" y="3959352"/>
            <a:ext cx="118872" cy="118872"/>
          </a:xfrm>
          <a:prstGeom prst="ellipse">
            <a:avLst/>
          </a:prstGeom>
          <a:solidFill>
            <a:srgbClr val="E8C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216152" y="3831336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gratuito: requiere licencia comercial por edición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" y="4782312"/>
            <a:ext cx="118872" cy="118872"/>
          </a:xfrm>
          <a:prstGeom prst="ellipse">
            <a:avLst/>
          </a:prstGeom>
          <a:solidFill>
            <a:srgbClr val="E8C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216152" y="4654296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 funciones puede abrumar al inicio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6364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DF1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F2D9BE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7" name="Image 1" descr="/home/claude/pptx_ea/icon_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2171700"/>
            <a:ext cx="320040" cy="320040"/>
          </a:xfrm>
          <a:prstGeom prst="rect">
            <a:avLst/>
          </a:prstGeom>
          <a:ln>
            <a:noFill/>
          </a:ln>
        </p:spPr>
      </p:pic>
      <p:sp>
        <p:nvSpPr>
          <p:cNvPr id="18" name="Text 14"/>
          <p:cNvSpPr/>
          <p:nvPr/>
        </p:nvSpPr>
        <p:spPr>
          <a:xfrm>
            <a:off x="7406640" y="1984248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98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ASPECTOS PRÁCTICOS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406640" y="224028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4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 y colaboración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583680" y="3136392"/>
            <a:ext cx="118872" cy="118872"/>
          </a:xfrm>
          <a:prstGeom prst="ellipse">
            <a:avLst/>
          </a:prstGeom>
          <a:solidFill>
            <a:srgbClr val="E8C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6839712" y="3008376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escritorio, no nativa en la nube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83680" y="3959352"/>
            <a:ext cx="118872" cy="118872"/>
          </a:xfrm>
          <a:prstGeom prst="ellipse">
            <a:avLst/>
          </a:prstGeom>
          <a:solidFill>
            <a:srgbClr val="E8C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6839712" y="3831336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colaboración en tiempo real que otras suites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583680" y="4782312"/>
            <a:ext cx="118872" cy="118872"/>
          </a:xfrm>
          <a:prstGeom prst="ellipse">
            <a:avLst/>
          </a:prstGeom>
          <a:solidFill>
            <a:srgbClr val="E8C7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6839712" y="4654296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ediciones con funciones distintas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Enterprise Architect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Y CREDIBILIDAD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Respaldo académico y profesional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9584" cy="3977640"/>
          </a:xfrm>
          <a:prstGeom prst="roundRect">
            <a:avLst>
              <a:gd name="adj" fmla="val 2591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8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55264" y="1965960"/>
            <a:ext cx="594360" cy="59436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home/claude/pptx_ea/icon_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854" y="2114550"/>
            <a:ext cx="297180" cy="297180"/>
          </a:xfrm>
          <a:prstGeom prst="rect">
            <a:avLst/>
          </a:prstGeom>
          <a:ln>
            <a:noFill/>
          </a:ln>
        </p:spPr>
      </p:pic>
      <p:sp>
        <p:nvSpPr>
          <p:cNvPr id="8" name="Text 5"/>
          <p:cNvSpPr/>
          <p:nvPr/>
        </p:nvSpPr>
        <p:spPr>
          <a:xfrm>
            <a:off x="914400" y="2697480"/>
            <a:ext cx="2980944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2980944" cy="228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normas internacionales del OMG: UML 2.5, BPMN 2.0, SysML y ArchiMate, lo que garantiza interoperabilidad con los principales marcos de modelado del sector.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4425696" y="1691640"/>
            <a:ext cx="3529584" cy="3977640"/>
          </a:xfrm>
          <a:prstGeom prst="roundRect">
            <a:avLst>
              <a:gd name="adj" fmla="val 2591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700016" y="1874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8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040880" y="1965960"/>
            <a:ext cx="594360" cy="59436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3" name="Image 1" descr="/home/claude/pptx_ea/icon_gr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470" y="2114550"/>
            <a:ext cx="297180" cy="297180"/>
          </a:xfrm>
          <a:prstGeom prst="rect">
            <a:avLst/>
          </a:prstGeom>
          <a:ln>
            <a:noFill/>
          </a:ln>
        </p:spPr>
      </p:pic>
      <p:sp>
        <p:nvSpPr>
          <p:cNvPr id="14" name="Text 10"/>
          <p:cNvSpPr/>
          <p:nvPr/>
        </p:nvSpPr>
        <p:spPr>
          <a:xfrm>
            <a:off x="4700016" y="2697480"/>
            <a:ext cx="2980944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700016" y="3154680"/>
            <a:ext cx="2980944" cy="228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Adoptado en universidades a nivel mundial como herramienta de referencia en cursos de Ingeniería de Software, Ingeniería de Requisitos y Arquitectura de Software.</a:t>
            </a:r>
            <a:endParaRPr lang="en-US" sz="1130" dirty="0"/>
          </a:p>
        </p:txBody>
      </p:sp>
      <p:sp>
        <p:nvSpPr>
          <p:cNvPr id="16" name="Shape 12"/>
          <p:cNvSpPr/>
          <p:nvPr/>
        </p:nvSpPr>
        <p:spPr>
          <a:xfrm>
            <a:off x="8211312" y="1691640"/>
            <a:ext cx="3529584" cy="3977640"/>
          </a:xfrm>
          <a:prstGeom prst="roundRect">
            <a:avLst>
              <a:gd name="adj" fmla="val 2591"/>
            </a:avLst>
          </a:prstGeom>
          <a:solidFill>
            <a:srgbClr val="F0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8485632" y="1874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8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10826496" y="1965960"/>
            <a:ext cx="594360" cy="594360"/>
          </a:xfrm>
          <a:prstGeom prst="ellipse">
            <a:avLst/>
          </a:prstGeom>
          <a:solidFill>
            <a:srgbClr val="C9D6E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9" name="Image 2" descr="/home/claude/pptx_ea/icon_buil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5086" y="2114550"/>
            <a:ext cx="297180" cy="297180"/>
          </a:xfrm>
          <a:prstGeom prst="rect">
            <a:avLst/>
          </a:prstGeom>
          <a:ln>
            <a:noFill/>
          </a:ln>
        </p:spPr>
      </p:pic>
      <p:sp>
        <p:nvSpPr>
          <p:cNvPr id="20" name="Text 15"/>
          <p:cNvSpPr/>
          <p:nvPr/>
        </p:nvSpPr>
        <p:spPr>
          <a:xfrm>
            <a:off x="8485632" y="2697480"/>
            <a:ext cx="2980944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485632" y="3154680"/>
            <a:ext cx="2980944" cy="228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 para documentación técnica, modelado de arquitecturas empresariales y gestión de requisitos en sectores como tecnología, finanzas, salud, defensa y gobierno.</a:t>
            </a:r>
            <a:endParaRPr lang="en-US" sz="1130" dirty="0"/>
          </a:p>
        </p:txBody>
      </p:sp>
      <p:sp>
        <p:nvSpPr>
          <p:cNvPr id="22" name="Text 17"/>
          <p:cNvSpPr/>
          <p:nvPr/>
        </p:nvSpPr>
        <p:spPr>
          <a:xfrm>
            <a:off x="640080" y="594360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Sparx Systems, sparxsystems.com/products/ea — documentación oficial del producto, 2026.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Enterprise Architect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D7DC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8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188720"/>
            <a:ext cx="640080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E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herramienta más completa para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E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y gestión de sistemas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· Análisis · Requisitos · Arquitectura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429000"/>
            <a:ext cx="6400800" cy="1965960"/>
          </a:xfrm>
          <a:prstGeom prst="roundRect">
            <a:avLst>
              <a:gd name="adj" fmla="val 4651"/>
            </a:avLst>
          </a:prstGeom>
          <a:solidFill>
            <a:srgbClr val="D7DC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8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¿En qué se distingue de las alternativas?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3977640"/>
            <a:ext cx="5852160" cy="1280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Visual Paradigm, StarUML, draw.io y Papyrus, EA es el único que integra en una sola plataforma: UML + BPMN + SysML, generación de código nativa y trazabilidad completa de extremo a extremo.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H  ·  Huilcapi León · Tigasi Sampedro · Vaca Romero  ·  Ing. Gleiston Guerrero, PhD.</a:t>
            </a:r>
            <a:endParaRPr lang="en-US" sz="1000" dirty="0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B4F57139-713B-FCF0-352B-865B72816C20}"/>
              </a:ext>
            </a:extLst>
          </p:cNvPr>
          <p:cNvGrpSpPr/>
          <p:nvPr/>
        </p:nvGrpSpPr>
        <p:grpSpPr>
          <a:xfrm>
            <a:off x="7600000" y="1482880"/>
            <a:ext cx="4450000" cy="4415000"/>
            <a:chOff x="6720000" y="1490000"/>
            <a:chExt cx="4450000" cy="4415000"/>
          </a:xfrm>
        </p:grpSpPr>
        <p:sp>
          <p:nvSpPr>
            <p:cNvPr id="32" name="Rounded Rectangle 11">
              <a:extLst>
                <a:ext uri="{FF2B5EF4-FFF2-40B4-BE49-F238E27FC236}">
                  <a16:creationId xmlns:a16="http://schemas.microsoft.com/office/drawing/2014/main" id="{7BFC4794-BE99-F245-E801-14C4C2443642}"/>
                </a:ext>
              </a:extLst>
            </p:cNvPr>
            <p:cNvSpPr/>
            <p:nvPr/>
          </p:nvSpPr>
          <p:spPr>
            <a:xfrm>
              <a:off x="6720000" y="1490000"/>
              <a:ext cx="4450000" cy="3940000"/>
            </a:xfrm>
            <a:prstGeom prst="roundRect">
              <a:avLst/>
            </a:prstGeom>
            <a:solidFill>
              <a:srgbClr val="FAFAF8"/>
            </a:solidFill>
            <a:ln w="1524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13">
              <a:extLst>
                <a:ext uri="{FF2B5EF4-FFF2-40B4-BE49-F238E27FC236}">
                  <a16:creationId xmlns:a16="http://schemas.microsoft.com/office/drawing/2014/main" id="{4BADC713-4D87-95B7-4901-3A32E60F99CF}"/>
                </a:ext>
              </a:extLst>
            </p:cNvPr>
            <p:cNvSpPr txBox="1"/>
            <p:nvPr/>
          </p:nvSpPr>
          <p:spPr>
            <a:xfrm>
              <a:off x="6980000" y="1710000"/>
              <a:ext cx="1800000" cy="2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45720" tIns="22860" rIns="45720" bIns="22860" anchor="ctr">
              <a:spAutoFit/>
            </a:bodyPr>
            <a:lstStyle/>
            <a:p>
              <a:pPr algn="l"/>
              <a:r>
                <a:rPr sz="1400" b="1" dirty="0" err="1">
                  <a:solidFill>
                    <a:srgbClr val="6F7A82"/>
                  </a:solidFill>
                  <a:latin typeface="Aptos"/>
                </a:rPr>
                <a:t>Resumen</a:t>
              </a:r>
              <a:r>
                <a:rPr sz="1400" b="1" dirty="0">
                  <a:solidFill>
                    <a:srgbClr val="6F7A82"/>
                  </a:solidFill>
                  <a:latin typeface="Aptos"/>
                </a:rPr>
                <a:t> visual</a:t>
              </a:r>
            </a:p>
          </p:txBody>
        </p:sp>
        <p:cxnSp>
          <p:nvCxnSpPr>
            <p:cNvPr id="34" name="Connector 15">
              <a:extLst>
                <a:ext uri="{FF2B5EF4-FFF2-40B4-BE49-F238E27FC236}">
                  <a16:creationId xmlns:a16="http://schemas.microsoft.com/office/drawing/2014/main" id="{88AF7BBD-07E4-C1BC-9E60-2BE5C55DD386}"/>
                </a:ext>
              </a:extLst>
            </p:cNvPr>
            <p:cNvCxnSpPr/>
            <p:nvPr/>
          </p:nvCxnSpPr>
          <p:spPr>
            <a:xfrm>
              <a:off x="8290000" y="2400000"/>
              <a:ext cx="680000" cy="135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17">
              <a:extLst>
                <a:ext uri="{FF2B5EF4-FFF2-40B4-BE49-F238E27FC236}">
                  <a16:creationId xmlns:a16="http://schemas.microsoft.com/office/drawing/2014/main" id="{5E6C60F9-A263-F765-9011-D1442F3D9F60}"/>
                </a:ext>
              </a:extLst>
            </p:cNvPr>
            <p:cNvCxnSpPr/>
            <p:nvPr/>
          </p:nvCxnSpPr>
          <p:spPr>
            <a:xfrm flipH="1">
              <a:off x="8970000" y="2400000"/>
              <a:ext cx="920000" cy="135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19">
              <a:extLst>
                <a:ext uri="{FF2B5EF4-FFF2-40B4-BE49-F238E27FC236}">
                  <a16:creationId xmlns:a16="http://schemas.microsoft.com/office/drawing/2014/main" id="{819B7691-063B-11A0-92BE-C5924D12D858}"/>
                </a:ext>
              </a:extLst>
            </p:cNvPr>
            <p:cNvCxnSpPr/>
            <p:nvPr/>
          </p:nvCxnSpPr>
          <p:spPr>
            <a:xfrm>
              <a:off x="7600000" y="3630000"/>
              <a:ext cx="1370000" cy="12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21">
              <a:extLst>
                <a:ext uri="{FF2B5EF4-FFF2-40B4-BE49-F238E27FC236}">
                  <a16:creationId xmlns:a16="http://schemas.microsoft.com/office/drawing/2014/main" id="{0CD9F205-5D02-17B7-FD41-CB6F0B0913F0}"/>
                </a:ext>
              </a:extLst>
            </p:cNvPr>
            <p:cNvCxnSpPr/>
            <p:nvPr/>
          </p:nvCxnSpPr>
          <p:spPr>
            <a:xfrm flipH="1">
              <a:off x="8970000" y="3630000"/>
              <a:ext cx="1580000" cy="12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23">
              <a:extLst>
                <a:ext uri="{FF2B5EF4-FFF2-40B4-BE49-F238E27FC236}">
                  <a16:creationId xmlns:a16="http://schemas.microsoft.com/office/drawing/2014/main" id="{CE7A4F3A-13E1-4681-1BD3-E616B6405F91}"/>
                </a:ext>
              </a:extLst>
            </p:cNvPr>
            <p:cNvCxnSpPr/>
            <p:nvPr/>
          </p:nvCxnSpPr>
          <p:spPr>
            <a:xfrm flipV="1">
              <a:off x="8290000" y="3750000"/>
              <a:ext cx="680000" cy="105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25">
              <a:extLst>
                <a:ext uri="{FF2B5EF4-FFF2-40B4-BE49-F238E27FC236}">
                  <a16:creationId xmlns:a16="http://schemas.microsoft.com/office/drawing/2014/main" id="{015F2389-6656-E599-6346-CE6A63D3CF58}"/>
                </a:ext>
              </a:extLst>
            </p:cNvPr>
            <p:cNvCxnSpPr/>
            <p:nvPr/>
          </p:nvCxnSpPr>
          <p:spPr>
            <a:xfrm flipH="1" flipV="1">
              <a:off x="8970000" y="3750000"/>
              <a:ext cx="920000" cy="105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ounded Rectangle 26">
              <a:extLst>
                <a:ext uri="{FF2B5EF4-FFF2-40B4-BE49-F238E27FC236}">
                  <a16:creationId xmlns:a16="http://schemas.microsoft.com/office/drawing/2014/main" id="{CD65D1CA-47D6-0738-DB93-1D7FD56DA3DD}"/>
                </a:ext>
              </a:extLst>
            </p:cNvPr>
            <p:cNvSpPr/>
            <p:nvPr/>
          </p:nvSpPr>
          <p:spPr>
            <a:xfrm>
              <a:off x="7329439" y="5605000"/>
              <a:ext cx="3400000" cy="300000"/>
            </a:xfrm>
            <a:prstGeom prst="roundRect">
              <a:avLst/>
            </a:prstGeom>
            <a:solidFill>
              <a:srgbClr val="BFD7EA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2860" rIns="45720" bIns="22860" rtlCol="0" anchor="ctr"/>
            <a:lstStyle/>
            <a:p>
              <a:pPr algn="ctr"/>
              <a:r>
                <a:rPr sz="1100" b="1" dirty="0" err="1">
                  <a:solidFill>
                    <a:srgbClr val="2D4059"/>
                  </a:solidFill>
                  <a:latin typeface="Aptos"/>
                </a:rPr>
                <a:t>Modelado</a:t>
              </a:r>
              <a:r>
                <a:rPr sz="1100" b="1" dirty="0">
                  <a:solidFill>
                    <a:srgbClr val="2D4059"/>
                  </a:solidFill>
                  <a:latin typeface="Aptos"/>
                </a:rPr>
                <a:t> · </a:t>
              </a:r>
              <a:r>
                <a:rPr sz="1100" b="1" dirty="0" err="1">
                  <a:solidFill>
                    <a:srgbClr val="2D4059"/>
                  </a:solidFill>
                  <a:latin typeface="Aptos"/>
                </a:rPr>
                <a:t>Requisitos</a:t>
              </a:r>
              <a:r>
                <a:rPr sz="1100" b="1" dirty="0">
                  <a:solidFill>
                    <a:srgbClr val="2D4059"/>
                  </a:solidFill>
                  <a:latin typeface="Aptos"/>
                </a:rPr>
                <a:t> · </a:t>
              </a:r>
              <a:r>
                <a:rPr sz="1100" b="1" dirty="0" err="1">
                  <a:solidFill>
                    <a:srgbClr val="2D4059"/>
                  </a:solidFill>
                  <a:latin typeface="Aptos"/>
                </a:rPr>
                <a:t>Arquitectura</a:t>
              </a:r>
              <a:r>
                <a:rPr sz="1100" b="1" dirty="0">
                  <a:solidFill>
                    <a:srgbClr val="2D4059"/>
                  </a:solidFill>
                  <a:latin typeface="Aptos"/>
                </a:rPr>
                <a:t> · </a:t>
              </a:r>
              <a:r>
                <a:rPr sz="1100" b="1" dirty="0" err="1">
                  <a:solidFill>
                    <a:srgbClr val="2D4059"/>
                  </a:solidFill>
                  <a:latin typeface="Aptos"/>
                </a:rPr>
                <a:t>Documentación</a:t>
              </a:r>
              <a:endParaRPr sz="1100" b="1" dirty="0">
                <a:solidFill>
                  <a:srgbClr val="2D4059"/>
                </a:solidFill>
                <a:latin typeface="Aptos"/>
              </a:endParaRPr>
            </a:p>
          </p:txBody>
        </p:sp>
        <p:sp>
          <p:nvSpPr>
            <p:cNvPr id="41" name="Oval 12">
              <a:extLst>
                <a:ext uri="{FF2B5EF4-FFF2-40B4-BE49-F238E27FC236}">
                  <a16:creationId xmlns:a16="http://schemas.microsoft.com/office/drawing/2014/main" id="{F5F004C8-29A4-7220-DB59-F5BB4AD37977}"/>
                </a:ext>
              </a:extLst>
            </p:cNvPr>
            <p:cNvSpPr/>
            <p:nvPr/>
          </p:nvSpPr>
          <p:spPr>
            <a:xfrm>
              <a:off x="8320000" y="3100000"/>
              <a:ext cx="1300000" cy="1300000"/>
            </a:xfrm>
            <a:prstGeom prst="ellipse">
              <a:avLst/>
            </a:prstGeom>
            <a:solidFill>
              <a:srgbClr val="86C8BC"/>
            </a:solidFill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2400" b="1">
                  <a:solidFill>
                    <a:srgbClr val="2D4059"/>
                  </a:solidFill>
                  <a:latin typeface="Aptos"/>
                </a:rPr>
                <a:t>EA</a:t>
              </a:r>
            </a:p>
            <a:p>
              <a:pPr algn="ctr"/>
              <a:r>
                <a:rPr sz="1100">
                  <a:solidFill>
                    <a:srgbClr val="2D4059"/>
                  </a:solidFill>
                  <a:latin typeface="Aptos"/>
                </a:rPr>
                <a:t>Integra</a:t>
              </a:r>
            </a:p>
          </p:txBody>
        </p:sp>
        <p:sp>
          <p:nvSpPr>
            <p:cNvPr id="42" name="Rounded Rectangle 14">
              <a:extLst>
                <a:ext uri="{FF2B5EF4-FFF2-40B4-BE49-F238E27FC236}">
                  <a16:creationId xmlns:a16="http://schemas.microsoft.com/office/drawing/2014/main" id="{7689ACE5-AD80-9055-ADFA-5A57F2D26CE5}"/>
                </a:ext>
              </a:extLst>
            </p:cNvPr>
            <p:cNvSpPr/>
            <p:nvPr/>
          </p:nvSpPr>
          <p:spPr>
            <a:xfrm>
              <a:off x="7700000" y="2170000"/>
              <a:ext cx="1180000" cy="460000"/>
            </a:xfrm>
            <a:prstGeom prst="roundRect">
              <a:avLst/>
            </a:prstGeom>
            <a:solidFill>
              <a:srgbClr val="BFD7EA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300" b="1">
                  <a:solidFill>
                    <a:srgbClr val="2D4059"/>
                  </a:solidFill>
                  <a:latin typeface="Aptos"/>
                </a:rPr>
                <a:t>UML</a:t>
              </a:r>
            </a:p>
          </p:txBody>
        </p:sp>
        <p:sp>
          <p:nvSpPr>
            <p:cNvPr id="43" name="Rounded Rectangle 16">
              <a:extLst>
                <a:ext uri="{FF2B5EF4-FFF2-40B4-BE49-F238E27FC236}">
                  <a16:creationId xmlns:a16="http://schemas.microsoft.com/office/drawing/2014/main" id="{86387657-81E4-DA48-7241-1941F7560603}"/>
                </a:ext>
              </a:extLst>
            </p:cNvPr>
            <p:cNvSpPr/>
            <p:nvPr/>
          </p:nvSpPr>
          <p:spPr>
            <a:xfrm>
              <a:off x="9300000" y="2170000"/>
              <a:ext cx="1180000" cy="460000"/>
            </a:xfrm>
            <a:prstGeom prst="roundRect">
              <a:avLst/>
            </a:prstGeom>
            <a:solidFill>
              <a:srgbClr val="FFDCCC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300" b="1">
                  <a:solidFill>
                    <a:srgbClr val="2D4059"/>
                  </a:solidFill>
                  <a:latin typeface="Aptos"/>
                </a:rPr>
                <a:t>BPMN</a:t>
              </a:r>
            </a:p>
          </p:txBody>
        </p:sp>
        <p:sp>
          <p:nvSpPr>
            <p:cNvPr id="44" name="Rounded Rectangle 18">
              <a:extLst>
                <a:ext uri="{FF2B5EF4-FFF2-40B4-BE49-F238E27FC236}">
                  <a16:creationId xmlns:a16="http://schemas.microsoft.com/office/drawing/2014/main" id="{ADCC3CD7-9669-1583-1CF1-E1AFC296F07B}"/>
                </a:ext>
              </a:extLst>
            </p:cNvPr>
            <p:cNvSpPr/>
            <p:nvPr/>
          </p:nvSpPr>
          <p:spPr>
            <a:xfrm>
              <a:off x="6864857" y="3429029"/>
              <a:ext cx="1180000" cy="460000"/>
            </a:xfrm>
            <a:prstGeom prst="roundRect">
              <a:avLst/>
            </a:prstGeom>
            <a:solidFill>
              <a:srgbClr val="DFD3F5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300" b="1">
                  <a:solidFill>
                    <a:srgbClr val="2D4059"/>
                  </a:solidFill>
                  <a:latin typeface="Aptos"/>
                </a:rPr>
                <a:t>SysML</a:t>
              </a:r>
            </a:p>
          </p:txBody>
        </p:sp>
        <p:sp>
          <p:nvSpPr>
            <p:cNvPr id="45" name="Rounded Rectangle 20">
              <a:extLst>
                <a:ext uri="{FF2B5EF4-FFF2-40B4-BE49-F238E27FC236}">
                  <a16:creationId xmlns:a16="http://schemas.microsoft.com/office/drawing/2014/main" id="{F36E7F0F-33C9-A755-A0C8-067E1374A109}"/>
                </a:ext>
              </a:extLst>
            </p:cNvPr>
            <p:cNvSpPr/>
            <p:nvPr/>
          </p:nvSpPr>
          <p:spPr>
            <a:xfrm>
              <a:off x="9960000" y="3400000"/>
              <a:ext cx="1180000" cy="460000"/>
            </a:xfrm>
            <a:prstGeom prst="roundRect">
              <a:avLst/>
            </a:prstGeom>
            <a:solidFill>
              <a:srgbClr val="C6E8DD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300" b="1">
                  <a:solidFill>
                    <a:srgbClr val="2D4059"/>
                  </a:solidFill>
                  <a:latin typeface="Aptos"/>
                </a:rPr>
                <a:t>REQ</a:t>
              </a:r>
            </a:p>
          </p:txBody>
        </p:sp>
        <p:sp>
          <p:nvSpPr>
            <p:cNvPr id="46" name="Rounded Rectangle 22">
              <a:extLst>
                <a:ext uri="{FF2B5EF4-FFF2-40B4-BE49-F238E27FC236}">
                  <a16:creationId xmlns:a16="http://schemas.microsoft.com/office/drawing/2014/main" id="{233623C3-2C25-814B-373E-C5F91B7453FB}"/>
                </a:ext>
              </a:extLst>
            </p:cNvPr>
            <p:cNvSpPr/>
            <p:nvPr/>
          </p:nvSpPr>
          <p:spPr>
            <a:xfrm>
              <a:off x="7700000" y="4570000"/>
              <a:ext cx="1180000" cy="460000"/>
            </a:xfrm>
            <a:prstGeom prst="roundRect">
              <a:avLst/>
            </a:prstGeom>
            <a:solidFill>
              <a:srgbClr val="F6EBB5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300" b="1">
                  <a:solidFill>
                    <a:srgbClr val="2D4059"/>
                  </a:solidFill>
                  <a:latin typeface="Aptos"/>
                </a:rPr>
                <a:t>DOC</a:t>
              </a:r>
            </a:p>
          </p:txBody>
        </p:sp>
        <p:sp>
          <p:nvSpPr>
            <p:cNvPr id="47" name="Rounded Rectangle 24">
              <a:extLst>
                <a:ext uri="{FF2B5EF4-FFF2-40B4-BE49-F238E27FC236}">
                  <a16:creationId xmlns:a16="http://schemas.microsoft.com/office/drawing/2014/main" id="{1A52781B-01FD-682F-616E-12D31FDE7513}"/>
                </a:ext>
              </a:extLst>
            </p:cNvPr>
            <p:cNvSpPr/>
            <p:nvPr/>
          </p:nvSpPr>
          <p:spPr>
            <a:xfrm>
              <a:off x="9300000" y="4570000"/>
              <a:ext cx="1180000" cy="460000"/>
            </a:xfrm>
            <a:prstGeom prst="roundRect">
              <a:avLst/>
            </a:prstGeom>
            <a:solidFill>
              <a:srgbClr val="F4CAD8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300" b="1">
                  <a:solidFill>
                    <a:srgbClr val="2D4059"/>
                  </a:solidFill>
                  <a:latin typeface="Aptos"/>
                </a:rPr>
                <a:t>CODE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1047</Words>
  <Application>Microsoft Office PowerPoint</Application>
  <PresentationFormat>Panorámica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HUILCAPI LEON  DENISSES FABIOLA</cp:lastModifiedBy>
  <cp:revision>5</cp:revision>
  <dcterms:created xsi:type="dcterms:W3CDTF">2026-07-19T00:16:38Z</dcterms:created>
  <dcterms:modified xsi:type="dcterms:W3CDTF">2026-07-20T02:29:39Z</dcterms:modified>
</cp:coreProperties>
</file>